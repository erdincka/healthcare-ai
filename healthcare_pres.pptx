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95" r:id="rId2"/>
    <p:sldId id="386" r:id="rId3"/>
    <p:sldId id="397" r:id="rId4"/>
    <p:sldId id="399" r:id="rId5"/>
    <p:sldId id="393" r:id="rId6"/>
  </p:sldIdLst>
  <p:sldSz cx="12192000" cy="6858000"/>
  <p:notesSz cx="6858000" cy="9144000"/>
  <p:embeddedFontLst>
    <p:embeddedFont>
      <p:font typeface="MetricHPE" panose="020B0503030202060203" pitchFamily="34" charset="77"/>
      <p:regular r:id="rId9"/>
      <p:bold r:id="rId10"/>
      <p:italic r:id="rId11"/>
      <p:boldItalic r:id="rId12"/>
    </p:embeddedFont>
    <p:embeddedFont>
      <p:font typeface="MetricHPE Black" panose="020B0503030202060203" pitchFamily="34" charset="77"/>
      <p:regular r:id="rId13"/>
      <p:bold r:id="rId14"/>
      <p:italic r:id="rId15"/>
      <p:boldItalic r:id="rId16"/>
    </p:embeddedFont>
  </p:embeddedFontLst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4" orient="horz" pos="3840">
          <p15:clr>
            <a:srgbClr val="A4A3A4"/>
          </p15:clr>
        </p15:guide>
        <p15:guide id="5" pos="3840">
          <p15:clr>
            <a:srgbClr val="A4A3A4"/>
          </p15:clr>
        </p15:guide>
        <p15:guide id="6" pos="384">
          <p15:clr>
            <a:srgbClr val="A4A3A4"/>
          </p15:clr>
        </p15:guide>
        <p15:guide id="7" pos="7296">
          <p15:clr>
            <a:srgbClr val="A4A3A4"/>
          </p15:clr>
        </p15:guide>
        <p15:guide id="8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na Seo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Ref idx="1">
          <a:schemeClr val="dk1">
            <a:tint val="80000"/>
          </a:schemeClr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07" autoAdjust="0"/>
    <p:restoredTop sz="87192" autoAdjust="0"/>
  </p:normalViewPr>
  <p:slideViewPr>
    <p:cSldViewPr snapToGrid="0">
      <p:cViewPr varScale="1">
        <p:scale>
          <a:sx n="110" d="100"/>
          <a:sy n="110" d="100"/>
        </p:scale>
        <p:origin x="1776" y="176"/>
      </p:cViewPr>
      <p:guideLst>
        <p:guide orient="horz" pos="2160"/>
        <p:guide orient="horz" pos="3840"/>
        <p:guide pos="3840"/>
        <p:guide pos="384"/>
        <p:guide pos="7296"/>
        <p:guide orient="horz" pos="98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7602" y="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latin typeface="MetricHPE" panose="020B050303020206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61830-C416-483F-955E-54203C65B711}" type="datetimeFigureOut">
              <a:rPr lang="en-US">
                <a:latin typeface="MetricHPE" panose="020B0503030202060203" pitchFamily="34" charset="0"/>
              </a:rPr>
              <a:t>3/18/26</a:t>
            </a:fld>
            <a:endParaRPr dirty="0">
              <a:latin typeface="MetricHPE" panose="020B050303020206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latin typeface="MetricHPE" panose="020B050303020206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31B20-3646-4475-8BC4-560CAF715D08}" type="slidenum">
              <a:rPr>
                <a:latin typeface="MetricHPE" panose="020B0503030202060203" pitchFamily="34" charset="0"/>
              </a:rPr>
              <a:t>‹#›</a:t>
            </a:fld>
            <a:endParaRPr dirty="0">
              <a:latin typeface="MetricHPE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2446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81000"/>
            <a:ext cx="4572001" cy="2573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124200"/>
            <a:ext cx="60960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1000" y="8686800"/>
            <a:ext cx="4876800" cy="227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latin typeface="MetricHPE" panose="020B050303020206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67400" y="8686800"/>
            <a:ext cx="609600" cy="227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latin typeface="MetricHPE" panose="020B0503030202060203" pitchFamily="34" charset="0"/>
              </a:defRPr>
            </a:lvl1pPr>
          </a:lstStyle>
          <a:p>
            <a:fld id="{5BFEAE42-E3FE-4405-B7FC-4425D05B92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3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45720" indent="-36576" algn="l" defTabSz="914400" rtl="0" eaLnBrk="1" latinLnBrk="0" hangingPunct="1">
      <a:spcBef>
        <a:spcPts val="600"/>
      </a:spcBef>
      <a:buSzPct val="25000"/>
      <a:buFont typeface="" panose="020B0303030202060203" pitchFamily="34" charset="0"/>
      <a:buChar char=" "/>
      <a:defRPr sz="1100" kern="1200">
        <a:solidFill>
          <a:schemeClr val="tx1"/>
        </a:solidFill>
        <a:latin typeface="MetricHPE" panose="020B0503030202060203" pitchFamily="34" charset="0"/>
        <a:ea typeface="+mn-ea"/>
        <a:cs typeface="+mn-cs"/>
      </a:defRPr>
    </a:lvl1pPr>
    <a:lvl2pPr marL="228600" indent="-137160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1050" kern="1200">
        <a:solidFill>
          <a:schemeClr val="tx1"/>
        </a:solidFill>
        <a:latin typeface="MetricHPE" panose="020B0503030202060203" pitchFamily="34" charset="0"/>
        <a:ea typeface="+mn-ea"/>
        <a:cs typeface="+mn-cs"/>
      </a:defRPr>
    </a:lvl2pPr>
    <a:lvl3pPr marL="365760" indent="-109728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1000" kern="1200">
        <a:solidFill>
          <a:schemeClr val="tx1"/>
        </a:solidFill>
        <a:latin typeface="MetricHPE" panose="020B0503030202060203" pitchFamily="34" charset="0"/>
        <a:ea typeface="+mn-ea"/>
        <a:cs typeface="+mn-cs"/>
      </a:defRPr>
    </a:lvl3pPr>
    <a:lvl4pPr marL="548640" indent="-109728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900" kern="1200">
        <a:solidFill>
          <a:schemeClr val="tx1"/>
        </a:solidFill>
        <a:latin typeface="MetricHPE" panose="020B0503030202060203" pitchFamily="34" charset="0"/>
        <a:ea typeface="+mn-ea"/>
        <a:cs typeface="+mn-cs"/>
      </a:defRPr>
    </a:lvl4pPr>
    <a:lvl5pPr marL="731520" indent="-109728" algn="l" defTabSz="914400" rtl="0" eaLnBrk="1" latinLnBrk="0" hangingPunct="1">
      <a:spcBef>
        <a:spcPts val="600"/>
      </a:spcBef>
      <a:buFont typeface="" panose="020B0303030202060203" pitchFamily="34" charset="0"/>
      <a:buChar char="–"/>
      <a:defRPr sz="800" kern="1200">
        <a:solidFill>
          <a:schemeClr val="tx1"/>
        </a:solidFill>
        <a:latin typeface="MetricHPE" panose="020B050303020206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14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Z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58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552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28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Ligh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>
            <a:grpSpLocks noChangeAspect="1"/>
          </p:cNvGrpSpPr>
          <p:nvPr userDrawn="1"/>
        </p:nvGrpSpPr>
        <p:grpSpPr>
          <a:xfrm>
            <a:off x="393523" y="381956"/>
            <a:ext cx="2218745" cy="893759"/>
            <a:chOff x="3578225" y="1146175"/>
            <a:chExt cx="5038725" cy="2111375"/>
          </a:xfrm>
        </p:grpSpPr>
        <p:sp>
          <p:nvSpPr>
            <p:cNvPr id="13" name="Freeform 5"/>
            <p:cNvSpPr>
              <a:spLocks noEditPoints="1"/>
            </p:cNvSpPr>
            <p:nvPr/>
          </p:nvSpPr>
          <p:spPr bwMode="auto">
            <a:xfrm>
              <a:off x="3578225" y="1146175"/>
              <a:ext cx="1725613" cy="498475"/>
            </a:xfrm>
            <a:custGeom>
              <a:avLst/>
              <a:gdLst>
                <a:gd name="T0" fmla="*/ 0 w 1087"/>
                <a:gd name="T1" fmla="*/ 0 h 314"/>
                <a:gd name="T2" fmla="*/ 0 w 1087"/>
                <a:gd name="T3" fmla="*/ 314 h 314"/>
                <a:gd name="T4" fmla="*/ 0 w 1087"/>
                <a:gd name="T5" fmla="*/ 314 h 314"/>
                <a:gd name="T6" fmla="*/ 1087 w 1087"/>
                <a:gd name="T7" fmla="*/ 314 h 314"/>
                <a:gd name="T8" fmla="*/ 1087 w 1087"/>
                <a:gd name="T9" fmla="*/ 0 h 314"/>
                <a:gd name="T10" fmla="*/ 0 w 1087"/>
                <a:gd name="T11" fmla="*/ 0 h 314"/>
                <a:gd name="T12" fmla="*/ 1018 w 1087"/>
                <a:gd name="T13" fmla="*/ 245 h 314"/>
                <a:gd name="T14" fmla="*/ 69 w 1087"/>
                <a:gd name="T15" fmla="*/ 245 h 314"/>
                <a:gd name="T16" fmla="*/ 69 w 1087"/>
                <a:gd name="T17" fmla="*/ 69 h 314"/>
                <a:gd name="T18" fmla="*/ 1018 w 1087"/>
                <a:gd name="T19" fmla="*/ 69 h 314"/>
                <a:gd name="T20" fmla="*/ 1018 w 1087"/>
                <a:gd name="T21" fmla="*/ 245 h 314"/>
                <a:gd name="T22" fmla="*/ 1018 w 1087"/>
                <a:gd name="T23" fmla="*/ 245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7" h="314">
                  <a:moveTo>
                    <a:pt x="0" y="0"/>
                  </a:moveTo>
                  <a:lnTo>
                    <a:pt x="0" y="314"/>
                  </a:lnTo>
                  <a:lnTo>
                    <a:pt x="0" y="314"/>
                  </a:lnTo>
                  <a:lnTo>
                    <a:pt x="1087" y="314"/>
                  </a:lnTo>
                  <a:lnTo>
                    <a:pt x="1087" y="0"/>
                  </a:lnTo>
                  <a:lnTo>
                    <a:pt x="0" y="0"/>
                  </a:lnTo>
                  <a:close/>
                  <a:moveTo>
                    <a:pt x="1018" y="245"/>
                  </a:moveTo>
                  <a:lnTo>
                    <a:pt x="69" y="245"/>
                  </a:lnTo>
                  <a:lnTo>
                    <a:pt x="69" y="69"/>
                  </a:lnTo>
                  <a:lnTo>
                    <a:pt x="1018" y="69"/>
                  </a:lnTo>
                  <a:lnTo>
                    <a:pt x="1018" y="245"/>
                  </a:lnTo>
                  <a:lnTo>
                    <a:pt x="1018" y="245"/>
                  </a:lnTo>
                  <a:close/>
                </a:path>
              </a:pathLst>
            </a:custGeom>
            <a:solidFill>
              <a:srgbClr val="00B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dirty="0">
                <a:latin typeface="MetricHPE Black" panose="020B0A03030202060203" pitchFamily="34" charset="0"/>
              </a:endParaRPr>
            </a:p>
          </p:txBody>
        </p:sp>
        <p:sp>
          <p:nvSpPr>
            <p:cNvPr id="14" name="Freeform 6"/>
            <p:cNvSpPr>
              <a:spLocks noEditPoints="1"/>
            </p:cNvSpPr>
            <p:nvPr/>
          </p:nvSpPr>
          <p:spPr bwMode="auto">
            <a:xfrm>
              <a:off x="3578225" y="1968501"/>
              <a:ext cx="5038725" cy="1289049"/>
            </a:xfrm>
            <a:custGeom>
              <a:avLst/>
              <a:gdLst>
                <a:gd name="T0" fmla="*/ 80 w 1341"/>
                <a:gd name="T1" fmla="*/ 52 h 342"/>
                <a:gd name="T2" fmla="*/ 29 w 1341"/>
                <a:gd name="T3" fmla="*/ 77 h 342"/>
                <a:gd name="T4" fmla="*/ 212 w 1341"/>
                <a:gd name="T5" fmla="*/ 93 h 342"/>
                <a:gd name="T6" fmla="*/ 174 w 1341"/>
                <a:gd name="T7" fmla="*/ 134 h 342"/>
                <a:gd name="T8" fmla="*/ 272 w 1341"/>
                <a:gd name="T9" fmla="*/ 132 h 342"/>
                <a:gd name="T10" fmla="*/ 276 w 1341"/>
                <a:gd name="T11" fmla="*/ 38 h 342"/>
                <a:gd name="T12" fmla="*/ 327 w 1341"/>
                <a:gd name="T13" fmla="*/ 132 h 342"/>
                <a:gd name="T14" fmla="*/ 398 w 1341"/>
                <a:gd name="T15" fmla="*/ 0 h 342"/>
                <a:gd name="T16" fmla="*/ 402 w 1341"/>
                <a:gd name="T17" fmla="*/ 134 h 342"/>
                <a:gd name="T18" fmla="*/ 448 w 1341"/>
                <a:gd name="T19" fmla="*/ 93 h 342"/>
                <a:gd name="T20" fmla="*/ 448 w 1341"/>
                <a:gd name="T21" fmla="*/ 74 h 342"/>
                <a:gd name="T22" fmla="*/ 642 w 1341"/>
                <a:gd name="T23" fmla="*/ 60 h 342"/>
                <a:gd name="T24" fmla="*/ 642 w 1341"/>
                <a:gd name="T25" fmla="*/ 131 h 342"/>
                <a:gd name="T26" fmla="*/ 570 w 1341"/>
                <a:gd name="T27" fmla="*/ 111 h 342"/>
                <a:gd name="T28" fmla="*/ 530 w 1341"/>
                <a:gd name="T29" fmla="*/ 60 h 342"/>
                <a:gd name="T30" fmla="*/ 558 w 1341"/>
                <a:gd name="T31" fmla="*/ 38 h 342"/>
                <a:gd name="T32" fmla="*/ 738 w 1341"/>
                <a:gd name="T33" fmla="*/ 89 h 342"/>
                <a:gd name="T34" fmla="*/ 787 w 1341"/>
                <a:gd name="T35" fmla="*/ 45 h 342"/>
                <a:gd name="T36" fmla="*/ 736 w 1341"/>
                <a:gd name="T37" fmla="*/ 65 h 342"/>
                <a:gd name="T38" fmla="*/ 848 w 1341"/>
                <a:gd name="T39" fmla="*/ 73 h 342"/>
                <a:gd name="T40" fmla="*/ 876 w 1341"/>
                <a:gd name="T41" fmla="*/ 73 h 342"/>
                <a:gd name="T42" fmla="*/ 833 w 1341"/>
                <a:gd name="T43" fmla="*/ 91 h 342"/>
                <a:gd name="T44" fmla="*/ 965 w 1341"/>
                <a:gd name="T45" fmla="*/ 43 h 342"/>
                <a:gd name="T46" fmla="*/ 964 w 1341"/>
                <a:gd name="T47" fmla="*/ 103 h 342"/>
                <a:gd name="T48" fmla="*/ 1010 w 1341"/>
                <a:gd name="T49" fmla="*/ 132 h 342"/>
                <a:gd name="T50" fmla="*/ 1070 w 1341"/>
                <a:gd name="T51" fmla="*/ 38 h 342"/>
                <a:gd name="T52" fmla="*/ 1010 w 1341"/>
                <a:gd name="T53" fmla="*/ 89 h 342"/>
                <a:gd name="T54" fmla="*/ 1133 w 1341"/>
                <a:gd name="T55" fmla="*/ 73 h 342"/>
                <a:gd name="T56" fmla="*/ 1160 w 1341"/>
                <a:gd name="T57" fmla="*/ 73 h 342"/>
                <a:gd name="T58" fmla="*/ 1117 w 1341"/>
                <a:gd name="T59" fmla="*/ 91 h 342"/>
                <a:gd name="T60" fmla="*/ 1239 w 1341"/>
                <a:gd name="T61" fmla="*/ 39 h 342"/>
                <a:gd name="T62" fmla="*/ 1180 w 1341"/>
                <a:gd name="T63" fmla="*/ 132 h 342"/>
                <a:gd name="T64" fmla="*/ 1246 w 1341"/>
                <a:gd name="T65" fmla="*/ 85 h 342"/>
                <a:gd name="T66" fmla="*/ 1314 w 1341"/>
                <a:gd name="T67" fmla="*/ 132 h 342"/>
                <a:gd name="T68" fmla="*/ 1295 w 1341"/>
                <a:gd name="T69" fmla="*/ 110 h 342"/>
                <a:gd name="T70" fmla="*/ 18 w 1341"/>
                <a:gd name="T71" fmla="*/ 231 h 342"/>
                <a:gd name="T72" fmla="*/ 81 w 1341"/>
                <a:gd name="T73" fmla="*/ 307 h 342"/>
                <a:gd name="T74" fmla="*/ 164 w 1341"/>
                <a:gd name="T75" fmla="*/ 307 h 342"/>
                <a:gd name="T76" fmla="*/ 103 w 1341"/>
                <a:gd name="T77" fmla="*/ 214 h 342"/>
                <a:gd name="T78" fmla="*/ 252 w 1341"/>
                <a:gd name="T79" fmla="*/ 229 h 342"/>
                <a:gd name="T80" fmla="*/ 252 w 1341"/>
                <a:gd name="T81" fmla="*/ 307 h 342"/>
                <a:gd name="T82" fmla="*/ 211 w 1341"/>
                <a:gd name="T83" fmla="*/ 214 h 342"/>
                <a:gd name="T84" fmla="*/ 305 w 1341"/>
                <a:gd name="T85" fmla="*/ 212 h 342"/>
                <a:gd name="T86" fmla="*/ 338 w 1341"/>
                <a:gd name="T87" fmla="*/ 285 h 342"/>
                <a:gd name="T88" fmla="*/ 281 w 1341"/>
                <a:gd name="T89" fmla="*/ 251 h 342"/>
                <a:gd name="T90" fmla="*/ 403 w 1341"/>
                <a:gd name="T91" fmla="*/ 229 h 342"/>
                <a:gd name="T92" fmla="*/ 382 w 1341"/>
                <a:gd name="T93" fmla="*/ 228 h 342"/>
                <a:gd name="T94" fmla="*/ 430 w 1341"/>
                <a:gd name="T95" fmla="*/ 342 h 342"/>
                <a:gd name="T96" fmla="*/ 498 w 1341"/>
                <a:gd name="T97" fmla="*/ 260 h 342"/>
                <a:gd name="T98" fmla="*/ 577 w 1341"/>
                <a:gd name="T99" fmla="*/ 212 h 342"/>
                <a:gd name="T100" fmla="*/ 554 w 1341"/>
                <a:gd name="T101" fmla="*/ 307 h 342"/>
                <a:gd name="T102" fmla="*/ 623 w 1341"/>
                <a:gd name="T103" fmla="*/ 187 h 342"/>
                <a:gd name="T104" fmla="*/ 621 w 1341"/>
                <a:gd name="T105" fmla="*/ 307 h 342"/>
                <a:gd name="T106" fmla="*/ 644 w 1341"/>
                <a:gd name="T107" fmla="*/ 300 h 342"/>
                <a:gd name="T108" fmla="*/ 644 w 1341"/>
                <a:gd name="T109" fmla="*/ 240 h 342"/>
                <a:gd name="T110" fmla="*/ 661 w 1341"/>
                <a:gd name="T111" fmla="*/ 238 h 342"/>
                <a:gd name="T112" fmla="*/ 807 w 1341"/>
                <a:gd name="T113" fmla="*/ 266 h 342"/>
                <a:gd name="T114" fmla="*/ 772 w 1341"/>
                <a:gd name="T115" fmla="*/ 309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41" h="342">
                  <a:moveTo>
                    <a:pt x="29" y="132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29" y="77"/>
                    <a:pt x="29" y="77"/>
                    <a:pt x="29" y="77"/>
                  </a:cubicBezTo>
                  <a:lnTo>
                    <a:pt x="29" y="132"/>
                  </a:lnTo>
                  <a:close/>
                  <a:moveTo>
                    <a:pt x="174" y="134"/>
                  </a:moveTo>
                  <a:cubicBezTo>
                    <a:pt x="145" y="134"/>
                    <a:pt x="125" y="116"/>
                    <a:pt x="125" y="85"/>
                  </a:cubicBezTo>
                  <a:cubicBezTo>
                    <a:pt x="125" y="56"/>
                    <a:pt x="144" y="36"/>
                    <a:pt x="170" y="36"/>
                  </a:cubicBezTo>
                  <a:cubicBezTo>
                    <a:pt x="198" y="36"/>
                    <a:pt x="212" y="55"/>
                    <a:pt x="212" y="83"/>
                  </a:cubicBezTo>
                  <a:cubicBezTo>
                    <a:pt x="212" y="93"/>
                    <a:pt x="212" y="93"/>
                    <a:pt x="21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5" y="108"/>
                    <a:pt x="167" y="112"/>
                    <a:pt x="178" y="112"/>
                  </a:cubicBezTo>
                  <a:cubicBezTo>
                    <a:pt x="188" y="112"/>
                    <a:pt x="195" y="110"/>
                    <a:pt x="204" y="104"/>
                  </a:cubicBezTo>
                  <a:cubicBezTo>
                    <a:pt x="205" y="104"/>
                    <a:pt x="205" y="104"/>
                    <a:pt x="205" y="104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98" y="131"/>
                    <a:pt x="187" y="134"/>
                    <a:pt x="174" y="134"/>
                  </a:cubicBezTo>
                  <a:close/>
                  <a:moveTo>
                    <a:pt x="152" y="74"/>
                  </a:moveTo>
                  <a:cubicBezTo>
                    <a:pt x="186" y="74"/>
                    <a:pt x="186" y="74"/>
                    <a:pt x="186" y="74"/>
                  </a:cubicBezTo>
                  <a:cubicBezTo>
                    <a:pt x="186" y="64"/>
                    <a:pt x="182" y="58"/>
                    <a:pt x="170" y="58"/>
                  </a:cubicBezTo>
                  <a:cubicBezTo>
                    <a:pt x="162" y="58"/>
                    <a:pt x="155" y="61"/>
                    <a:pt x="152" y="74"/>
                  </a:cubicBezTo>
                  <a:close/>
                  <a:moveTo>
                    <a:pt x="287" y="77"/>
                  </a:moveTo>
                  <a:cubicBezTo>
                    <a:pt x="272" y="132"/>
                    <a:pt x="272" y="132"/>
                    <a:pt x="272" y="132"/>
                  </a:cubicBezTo>
                  <a:cubicBezTo>
                    <a:pt x="247" y="132"/>
                    <a:pt x="247" y="132"/>
                    <a:pt x="247" y="132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61" y="93"/>
                    <a:pt x="261" y="93"/>
                    <a:pt x="261" y="93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313" y="93"/>
                    <a:pt x="313" y="93"/>
                    <a:pt x="313" y="93"/>
                  </a:cubicBezTo>
                  <a:cubicBezTo>
                    <a:pt x="329" y="38"/>
                    <a:pt x="329" y="38"/>
                    <a:pt x="329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27" y="132"/>
                    <a:pt x="327" y="132"/>
                    <a:pt x="327" y="132"/>
                  </a:cubicBezTo>
                  <a:cubicBezTo>
                    <a:pt x="302" y="132"/>
                    <a:pt x="302" y="132"/>
                    <a:pt x="302" y="132"/>
                  </a:cubicBezTo>
                  <a:lnTo>
                    <a:pt x="287" y="77"/>
                  </a:lnTo>
                  <a:close/>
                  <a:moveTo>
                    <a:pt x="402" y="134"/>
                  </a:moveTo>
                  <a:cubicBezTo>
                    <a:pt x="379" y="134"/>
                    <a:pt x="370" y="125"/>
                    <a:pt x="370" y="104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102"/>
                    <a:pt x="398" y="102"/>
                    <a:pt x="398" y="102"/>
                  </a:cubicBezTo>
                  <a:cubicBezTo>
                    <a:pt x="398" y="108"/>
                    <a:pt x="400" y="111"/>
                    <a:pt x="406" y="111"/>
                  </a:cubicBezTo>
                  <a:cubicBezTo>
                    <a:pt x="408" y="111"/>
                    <a:pt x="410" y="110"/>
                    <a:pt x="412" y="109"/>
                  </a:cubicBezTo>
                  <a:cubicBezTo>
                    <a:pt x="413" y="109"/>
                    <a:pt x="413" y="109"/>
                    <a:pt x="413" y="109"/>
                  </a:cubicBezTo>
                  <a:cubicBezTo>
                    <a:pt x="413" y="132"/>
                    <a:pt x="413" y="132"/>
                    <a:pt x="413" y="132"/>
                  </a:cubicBezTo>
                  <a:cubicBezTo>
                    <a:pt x="410" y="133"/>
                    <a:pt x="406" y="134"/>
                    <a:pt x="402" y="134"/>
                  </a:cubicBezTo>
                  <a:close/>
                  <a:moveTo>
                    <a:pt x="469" y="134"/>
                  </a:moveTo>
                  <a:cubicBezTo>
                    <a:pt x="440" y="134"/>
                    <a:pt x="420" y="116"/>
                    <a:pt x="420" y="85"/>
                  </a:cubicBezTo>
                  <a:cubicBezTo>
                    <a:pt x="420" y="56"/>
                    <a:pt x="440" y="36"/>
                    <a:pt x="465" y="36"/>
                  </a:cubicBezTo>
                  <a:cubicBezTo>
                    <a:pt x="494" y="36"/>
                    <a:pt x="507" y="55"/>
                    <a:pt x="507" y="83"/>
                  </a:cubicBezTo>
                  <a:cubicBezTo>
                    <a:pt x="507" y="93"/>
                    <a:pt x="507" y="93"/>
                    <a:pt x="507" y="93"/>
                  </a:cubicBezTo>
                  <a:cubicBezTo>
                    <a:pt x="448" y="93"/>
                    <a:pt x="448" y="93"/>
                    <a:pt x="448" y="93"/>
                  </a:cubicBezTo>
                  <a:cubicBezTo>
                    <a:pt x="451" y="108"/>
                    <a:pt x="462" y="112"/>
                    <a:pt x="474" y="112"/>
                  </a:cubicBezTo>
                  <a:cubicBezTo>
                    <a:pt x="484" y="112"/>
                    <a:pt x="491" y="110"/>
                    <a:pt x="500" y="104"/>
                  </a:cubicBezTo>
                  <a:cubicBezTo>
                    <a:pt x="501" y="104"/>
                    <a:pt x="501" y="104"/>
                    <a:pt x="501" y="104"/>
                  </a:cubicBezTo>
                  <a:cubicBezTo>
                    <a:pt x="501" y="126"/>
                    <a:pt x="501" y="126"/>
                    <a:pt x="501" y="126"/>
                  </a:cubicBezTo>
                  <a:cubicBezTo>
                    <a:pt x="493" y="131"/>
                    <a:pt x="482" y="134"/>
                    <a:pt x="469" y="134"/>
                  </a:cubicBezTo>
                  <a:close/>
                  <a:moveTo>
                    <a:pt x="448" y="74"/>
                  </a:moveTo>
                  <a:cubicBezTo>
                    <a:pt x="482" y="74"/>
                    <a:pt x="482" y="74"/>
                    <a:pt x="482" y="74"/>
                  </a:cubicBezTo>
                  <a:cubicBezTo>
                    <a:pt x="481" y="64"/>
                    <a:pt x="477" y="58"/>
                    <a:pt x="466" y="58"/>
                  </a:cubicBezTo>
                  <a:cubicBezTo>
                    <a:pt x="457" y="58"/>
                    <a:pt x="450" y="61"/>
                    <a:pt x="448" y="74"/>
                  </a:cubicBezTo>
                  <a:close/>
                  <a:moveTo>
                    <a:pt x="622" y="38"/>
                  </a:moveTo>
                  <a:cubicBezTo>
                    <a:pt x="642" y="38"/>
                    <a:pt x="642" y="38"/>
                    <a:pt x="642" y="38"/>
                  </a:cubicBezTo>
                  <a:cubicBezTo>
                    <a:pt x="642" y="60"/>
                    <a:pt x="642" y="60"/>
                    <a:pt x="642" y="60"/>
                  </a:cubicBezTo>
                  <a:cubicBezTo>
                    <a:pt x="622" y="60"/>
                    <a:pt x="622" y="60"/>
                    <a:pt x="622" y="60"/>
                  </a:cubicBezTo>
                  <a:cubicBezTo>
                    <a:pt x="622" y="99"/>
                    <a:pt x="622" y="99"/>
                    <a:pt x="622" y="99"/>
                  </a:cubicBezTo>
                  <a:cubicBezTo>
                    <a:pt x="622" y="107"/>
                    <a:pt x="625" y="111"/>
                    <a:pt x="633" y="111"/>
                  </a:cubicBezTo>
                  <a:cubicBezTo>
                    <a:pt x="636" y="111"/>
                    <a:pt x="639" y="110"/>
                    <a:pt x="642" y="109"/>
                  </a:cubicBezTo>
                  <a:cubicBezTo>
                    <a:pt x="642" y="109"/>
                    <a:pt x="642" y="109"/>
                    <a:pt x="642" y="109"/>
                  </a:cubicBezTo>
                  <a:cubicBezTo>
                    <a:pt x="642" y="131"/>
                    <a:pt x="642" y="131"/>
                    <a:pt x="642" y="131"/>
                  </a:cubicBezTo>
                  <a:cubicBezTo>
                    <a:pt x="639" y="132"/>
                    <a:pt x="633" y="134"/>
                    <a:pt x="625" y="134"/>
                  </a:cubicBezTo>
                  <a:cubicBezTo>
                    <a:pt x="603" y="134"/>
                    <a:pt x="594" y="124"/>
                    <a:pt x="594" y="100"/>
                  </a:cubicBezTo>
                  <a:cubicBezTo>
                    <a:pt x="594" y="60"/>
                    <a:pt x="594" y="60"/>
                    <a:pt x="594" y="60"/>
                  </a:cubicBezTo>
                  <a:cubicBezTo>
                    <a:pt x="558" y="60"/>
                    <a:pt x="558" y="60"/>
                    <a:pt x="558" y="60"/>
                  </a:cubicBezTo>
                  <a:cubicBezTo>
                    <a:pt x="558" y="99"/>
                    <a:pt x="558" y="99"/>
                    <a:pt x="558" y="99"/>
                  </a:cubicBezTo>
                  <a:cubicBezTo>
                    <a:pt x="558" y="107"/>
                    <a:pt x="561" y="111"/>
                    <a:pt x="570" y="111"/>
                  </a:cubicBezTo>
                  <a:cubicBezTo>
                    <a:pt x="572" y="111"/>
                    <a:pt x="575" y="110"/>
                    <a:pt x="578" y="109"/>
                  </a:cubicBezTo>
                  <a:cubicBezTo>
                    <a:pt x="579" y="109"/>
                    <a:pt x="579" y="109"/>
                    <a:pt x="579" y="109"/>
                  </a:cubicBezTo>
                  <a:cubicBezTo>
                    <a:pt x="579" y="131"/>
                    <a:pt x="579" y="131"/>
                    <a:pt x="579" y="131"/>
                  </a:cubicBezTo>
                  <a:cubicBezTo>
                    <a:pt x="575" y="132"/>
                    <a:pt x="570" y="134"/>
                    <a:pt x="562" y="134"/>
                  </a:cubicBezTo>
                  <a:cubicBezTo>
                    <a:pt x="539" y="134"/>
                    <a:pt x="530" y="124"/>
                    <a:pt x="530" y="100"/>
                  </a:cubicBezTo>
                  <a:cubicBezTo>
                    <a:pt x="530" y="60"/>
                    <a:pt x="530" y="60"/>
                    <a:pt x="530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38"/>
                    <a:pt x="516" y="38"/>
                    <a:pt x="516" y="38"/>
                  </a:cubicBezTo>
                  <a:cubicBezTo>
                    <a:pt x="530" y="38"/>
                    <a:pt x="530" y="38"/>
                    <a:pt x="530" y="38"/>
                  </a:cubicBezTo>
                  <a:cubicBezTo>
                    <a:pt x="530" y="12"/>
                    <a:pt x="530" y="12"/>
                    <a:pt x="530" y="12"/>
                  </a:cubicBezTo>
                  <a:cubicBezTo>
                    <a:pt x="558" y="12"/>
                    <a:pt x="558" y="12"/>
                    <a:pt x="558" y="12"/>
                  </a:cubicBezTo>
                  <a:cubicBezTo>
                    <a:pt x="558" y="38"/>
                    <a:pt x="558" y="38"/>
                    <a:pt x="558" y="38"/>
                  </a:cubicBezTo>
                  <a:cubicBezTo>
                    <a:pt x="594" y="38"/>
                    <a:pt x="594" y="38"/>
                    <a:pt x="594" y="38"/>
                  </a:cubicBezTo>
                  <a:cubicBezTo>
                    <a:pt x="594" y="12"/>
                    <a:pt x="594" y="12"/>
                    <a:pt x="594" y="12"/>
                  </a:cubicBezTo>
                  <a:cubicBezTo>
                    <a:pt x="622" y="12"/>
                    <a:pt x="622" y="12"/>
                    <a:pt x="622" y="12"/>
                  </a:cubicBezTo>
                  <a:cubicBezTo>
                    <a:pt x="622" y="38"/>
                    <a:pt x="622" y="38"/>
                    <a:pt x="622" y="38"/>
                  </a:cubicBezTo>
                  <a:close/>
                  <a:moveTo>
                    <a:pt x="787" y="45"/>
                  </a:moveTo>
                  <a:cubicBezTo>
                    <a:pt x="787" y="73"/>
                    <a:pt x="768" y="89"/>
                    <a:pt x="738" y="89"/>
                  </a:cubicBezTo>
                  <a:cubicBezTo>
                    <a:pt x="718" y="89"/>
                    <a:pt x="718" y="89"/>
                    <a:pt x="718" y="89"/>
                  </a:cubicBezTo>
                  <a:cubicBezTo>
                    <a:pt x="718" y="132"/>
                    <a:pt x="718" y="132"/>
                    <a:pt x="718" y="132"/>
                  </a:cubicBezTo>
                  <a:cubicBezTo>
                    <a:pt x="689" y="132"/>
                    <a:pt x="689" y="132"/>
                    <a:pt x="689" y="132"/>
                  </a:cubicBezTo>
                  <a:cubicBezTo>
                    <a:pt x="689" y="0"/>
                    <a:pt x="689" y="0"/>
                    <a:pt x="689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68" y="0"/>
                    <a:pt x="787" y="16"/>
                    <a:pt x="787" y="45"/>
                  </a:cubicBezTo>
                  <a:close/>
                  <a:moveTo>
                    <a:pt x="736" y="65"/>
                  </a:moveTo>
                  <a:cubicBezTo>
                    <a:pt x="751" y="65"/>
                    <a:pt x="758" y="57"/>
                    <a:pt x="758" y="45"/>
                  </a:cubicBezTo>
                  <a:cubicBezTo>
                    <a:pt x="758" y="33"/>
                    <a:pt x="751" y="24"/>
                    <a:pt x="736" y="24"/>
                  </a:cubicBezTo>
                  <a:cubicBezTo>
                    <a:pt x="718" y="24"/>
                    <a:pt x="718" y="24"/>
                    <a:pt x="718" y="24"/>
                  </a:cubicBezTo>
                  <a:cubicBezTo>
                    <a:pt x="718" y="65"/>
                    <a:pt x="718" y="65"/>
                    <a:pt x="718" y="65"/>
                  </a:cubicBezTo>
                  <a:lnTo>
                    <a:pt x="736" y="65"/>
                  </a:lnTo>
                  <a:close/>
                  <a:moveTo>
                    <a:pt x="849" y="123"/>
                  </a:moveTo>
                  <a:cubicBezTo>
                    <a:pt x="843" y="130"/>
                    <a:pt x="834" y="134"/>
                    <a:pt x="824" y="134"/>
                  </a:cubicBezTo>
                  <a:cubicBezTo>
                    <a:pt x="806" y="134"/>
                    <a:pt x="791" y="122"/>
                    <a:pt x="791" y="103"/>
                  </a:cubicBezTo>
                  <a:cubicBezTo>
                    <a:pt x="791" y="84"/>
                    <a:pt x="806" y="72"/>
                    <a:pt x="827" y="72"/>
                  </a:cubicBezTo>
                  <a:cubicBezTo>
                    <a:pt x="834" y="72"/>
                    <a:pt x="841" y="73"/>
                    <a:pt x="848" y="75"/>
                  </a:cubicBezTo>
                  <a:cubicBezTo>
                    <a:pt x="848" y="73"/>
                    <a:pt x="848" y="73"/>
                    <a:pt x="848" y="73"/>
                  </a:cubicBezTo>
                  <a:cubicBezTo>
                    <a:pt x="848" y="63"/>
                    <a:pt x="842" y="59"/>
                    <a:pt x="827" y="59"/>
                  </a:cubicBezTo>
                  <a:cubicBezTo>
                    <a:pt x="818" y="59"/>
                    <a:pt x="809" y="62"/>
                    <a:pt x="801" y="66"/>
                  </a:cubicBezTo>
                  <a:cubicBezTo>
                    <a:pt x="800" y="66"/>
                    <a:pt x="800" y="66"/>
                    <a:pt x="800" y="66"/>
                  </a:cubicBezTo>
                  <a:cubicBezTo>
                    <a:pt x="800" y="44"/>
                    <a:pt x="800" y="44"/>
                    <a:pt x="800" y="44"/>
                  </a:cubicBezTo>
                  <a:cubicBezTo>
                    <a:pt x="807" y="40"/>
                    <a:pt x="820" y="36"/>
                    <a:pt x="832" y="36"/>
                  </a:cubicBezTo>
                  <a:cubicBezTo>
                    <a:pt x="860" y="36"/>
                    <a:pt x="876" y="49"/>
                    <a:pt x="876" y="73"/>
                  </a:cubicBezTo>
                  <a:cubicBezTo>
                    <a:pt x="876" y="132"/>
                    <a:pt x="876" y="132"/>
                    <a:pt x="876" y="132"/>
                  </a:cubicBezTo>
                  <a:cubicBezTo>
                    <a:pt x="849" y="132"/>
                    <a:pt x="849" y="132"/>
                    <a:pt x="849" y="132"/>
                  </a:cubicBezTo>
                  <a:cubicBezTo>
                    <a:pt x="849" y="123"/>
                    <a:pt x="849" y="123"/>
                    <a:pt x="849" y="123"/>
                  </a:cubicBezTo>
                  <a:close/>
                  <a:moveTo>
                    <a:pt x="848" y="102"/>
                  </a:moveTo>
                  <a:cubicBezTo>
                    <a:pt x="848" y="94"/>
                    <a:pt x="848" y="94"/>
                    <a:pt x="848" y="94"/>
                  </a:cubicBezTo>
                  <a:cubicBezTo>
                    <a:pt x="844" y="92"/>
                    <a:pt x="838" y="91"/>
                    <a:pt x="833" y="91"/>
                  </a:cubicBezTo>
                  <a:cubicBezTo>
                    <a:pt x="823" y="91"/>
                    <a:pt x="818" y="95"/>
                    <a:pt x="818" y="102"/>
                  </a:cubicBezTo>
                  <a:cubicBezTo>
                    <a:pt x="818" y="110"/>
                    <a:pt x="823" y="113"/>
                    <a:pt x="832" y="113"/>
                  </a:cubicBezTo>
                  <a:cubicBezTo>
                    <a:pt x="839" y="113"/>
                    <a:pt x="845" y="109"/>
                    <a:pt x="848" y="102"/>
                  </a:cubicBezTo>
                  <a:close/>
                  <a:moveTo>
                    <a:pt x="890" y="85"/>
                  </a:moveTo>
                  <a:cubicBezTo>
                    <a:pt x="890" y="55"/>
                    <a:pt x="911" y="36"/>
                    <a:pt x="939" y="36"/>
                  </a:cubicBezTo>
                  <a:cubicBezTo>
                    <a:pt x="949" y="36"/>
                    <a:pt x="958" y="38"/>
                    <a:pt x="965" y="43"/>
                  </a:cubicBezTo>
                  <a:cubicBezTo>
                    <a:pt x="965" y="67"/>
                    <a:pt x="965" y="67"/>
                    <a:pt x="965" y="67"/>
                  </a:cubicBezTo>
                  <a:cubicBezTo>
                    <a:pt x="964" y="67"/>
                    <a:pt x="964" y="67"/>
                    <a:pt x="964" y="67"/>
                  </a:cubicBezTo>
                  <a:cubicBezTo>
                    <a:pt x="958" y="62"/>
                    <a:pt x="951" y="60"/>
                    <a:pt x="943" y="60"/>
                  </a:cubicBezTo>
                  <a:cubicBezTo>
                    <a:pt x="929" y="60"/>
                    <a:pt x="918" y="69"/>
                    <a:pt x="918" y="85"/>
                  </a:cubicBezTo>
                  <a:cubicBezTo>
                    <a:pt x="918" y="101"/>
                    <a:pt x="929" y="110"/>
                    <a:pt x="943" y="110"/>
                  </a:cubicBezTo>
                  <a:cubicBezTo>
                    <a:pt x="951" y="110"/>
                    <a:pt x="958" y="108"/>
                    <a:pt x="964" y="103"/>
                  </a:cubicBezTo>
                  <a:cubicBezTo>
                    <a:pt x="965" y="103"/>
                    <a:pt x="965" y="103"/>
                    <a:pt x="965" y="103"/>
                  </a:cubicBezTo>
                  <a:cubicBezTo>
                    <a:pt x="965" y="127"/>
                    <a:pt x="965" y="127"/>
                    <a:pt x="965" y="127"/>
                  </a:cubicBezTo>
                  <a:cubicBezTo>
                    <a:pt x="958" y="132"/>
                    <a:pt x="949" y="134"/>
                    <a:pt x="939" y="134"/>
                  </a:cubicBezTo>
                  <a:cubicBezTo>
                    <a:pt x="911" y="134"/>
                    <a:pt x="890" y="115"/>
                    <a:pt x="890" y="85"/>
                  </a:cubicBezTo>
                  <a:close/>
                  <a:moveTo>
                    <a:pt x="1010" y="89"/>
                  </a:moveTo>
                  <a:cubicBezTo>
                    <a:pt x="1010" y="132"/>
                    <a:pt x="1010" y="132"/>
                    <a:pt x="1010" y="132"/>
                  </a:cubicBezTo>
                  <a:cubicBezTo>
                    <a:pt x="983" y="132"/>
                    <a:pt x="983" y="132"/>
                    <a:pt x="983" y="132"/>
                  </a:cubicBezTo>
                  <a:cubicBezTo>
                    <a:pt x="983" y="0"/>
                    <a:pt x="983" y="0"/>
                    <a:pt x="983" y="0"/>
                  </a:cubicBezTo>
                  <a:cubicBezTo>
                    <a:pt x="1010" y="0"/>
                    <a:pt x="1010" y="0"/>
                    <a:pt x="1010" y="0"/>
                  </a:cubicBezTo>
                  <a:cubicBezTo>
                    <a:pt x="1010" y="75"/>
                    <a:pt x="1010" y="75"/>
                    <a:pt x="1010" y="75"/>
                  </a:cubicBezTo>
                  <a:cubicBezTo>
                    <a:pt x="1039" y="38"/>
                    <a:pt x="1039" y="38"/>
                    <a:pt x="1039" y="38"/>
                  </a:cubicBezTo>
                  <a:cubicBezTo>
                    <a:pt x="1070" y="38"/>
                    <a:pt x="1070" y="38"/>
                    <a:pt x="1070" y="38"/>
                  </a:cubicBezTo>
                  <a:cubicBezTo>
                    <a:pt x="1070" y="39"/>
                    <a:pt x="1070" y="39"/>
                    <a:pt x="1070" y="39"/>
                  </a:cubicBezTo>
                  <a:cubicBezTo>
                    <a:pt x="1036" y="82"/>
                    <a:pt x="1036" y="82"/>
                    <a:pt x="1036" y="82"/>
                  </a:cubicBezTo>
                  <a:cubicBezTo>
                    <a:pt x="1070" y="131"/>
                    <a:pt x="1070" y="131"/>
                    <a:pt x="1070" y="131"/>
                  </a:cubicBezTo>
                  <a:cubicBezTo>
                    <a:pt x="1070" y="132"/>
                    <a:pt x="1070" y="132"/>
                    <a:pt x="1070" y="132"/>
                  </a:cubicBezTo>
                  <a:cubicBezTo>
                    <a:pt x="1038" y="132"/>
                    <a:pt x="1038" y="132"/>
                    <a:pt x="1038" y="132"/>
                  </a:cubicBezTo>
                  <a:lnTo>
                    <a:pt x="1010" y="89"/>
                  </a:lnTo>
                  <a:close/>
                  <a:moveTo>
                    <a:pt x="1133" y="123"/>
                  </a:moveTo>
                  <a:cubicBezTo>
                    <a:pt x="1127" y="130"/>
                    <a:pt x="1118" y="134"/>
                    <a:pt x="1108" y="134"/>
                  </a:cubicBezTo>
                  <a:cubicBezTo>
                    <a:pt x="1090" y="134"/>
                    <a:pt x="1075" y="122"/>
                    <a:pt x="1075" y="103"/>
                  </a:cubicBezTo>
                  <a:cubicBezTo>
                    <a:pt x="1075" y="84"/>
                    <a:pt x="1090" y="72"/>
                    <a:pt x="1112" y="72"/>
                  </a:cubicBezTo>
                  <a:cubicBezTo>
                    <a:pt x="1118" y="72"/>
                    <a:pt x="1125" y="73"/>
                    <a:pt x="1133" y="75"/>
                  </a:cubicBezTo>
                  <a:cubicBezTo>
                    <a:pt x="1133" y="73"/>
                    <a:pt x="1133" y="73"/>
                    <a:pt x="1133" y="73"/>
                  </a:cubicBezTo>
                  <a:cubicBezTo>
                    <a:pt x="1133" y="63"/>
                    <a:pt x="1127" y="59"/>
                    <a:pt x="1112" y="59"/>
                  </a:cubicBezTo>
                  <a:cubicBezTo>
                    <a:pt x="1102" y="59"/>
                    <a:pt x="1093" y="62"/>
                    <a:pt x="1086" y="66"/>
                  </a:cubicBezTo>
                  <a:cubicBezTo>
                    <a:pt x="1084" y="66"/>
                    <a:pt x="1084" y="66"/>
                    <a:pt x="1084" y="66"/>
                  </a:cubicBezTo>
                  <a:cubicBezTo>
                    <a:pt x="1084" y="44"/>
                    <a:pt x="1084" y="44"/>
                    <a:pt x="1084" y="44"/>
                  </a:cubicBezTo>
                  <a:cubicBezTo>
                    <a:pt x="1092" y="40"/>
                    <a:pt x="1104" y="36"/>
                    <a:pt x="1117" y="36"/>
                  </a:cubicBezTo>
                  <a:cubicBezTo>
                    <a:pt x="1145" y="36"/>
                    <a:pt x="1160" y="49"/>
                    <a:pt x="1160" y="73"/>
                  </a:cubicBezTo>
                  <a:cubicBezTo>
                    <a:pt x="1160" y="132"/>
                    <a:pt x="1160" y="132"/>
                    <a:pt x="1160" y="132"/>
                  </a:cubicBezTo>
                  <a:cubicBezTo>
                    <a:pt x="1133" y="132"/>
                    <a:pt x="1133" y="132"/>
                    <a:pt x="1133" y="132"/>
                  </a:cubicBezTo>
                  <a:cubicBezTo>
                    <a:pt x="1133" y="123"/>
                    <a:pt x="1133" y="123"/>
                    <a:pt x="1133" y="123"/>
                  </a:cubicBezTo>
                  <a:close/>
                  <a:moveTo>
                    <a:pt x="1133" y="102"/>
                  </a:moveTo>
                  <a:cubicBezTo>
                    <a:pt x="1133" y="94"/>
                    <a:pt x="1133" y="94"/>
                    <a:pt x="1133" y="94"/>
                  </a:cubicBezTo>
                  <a:cubicBezTo>
                    <a:pt x="1128" y="92"/>
                    <a:pt x="1123" y="91"/>
                    <a:pt x="1117" y="91"/>
                  </a:cubicBezTo>
                  <a:cubicBezTo>
                    <a:pt x="1108" y="91"/>
                    <a:pt x="1103" y="95"/>
                    <a:pt x="1103" y="102"/>
                  </a:cubicBezTo>
                  <a:cubicBezTo>
                    <a:pt x="1103" y="110"/>
                    <a:pt x="1108" y="113"/>
                    <a:pt x="1116" y="113"/>
                  </a:cubicBezTo>
                  <a:cubicBezTo>
                    <a:pt x="1124" y="113"/>
                    <a:pt x="1130" y="109"/>
                    <a:pt x="1133" y="102"/>
                  </a:cubicBezTo>
                  <a:close/>
                  <a:moveTo>
                    <a:pt x="1207" y="53"/>
                  </a:moveTo>
                  <a:cubicBezTo>
                    <a:pt x="1212" y="43"/>
                    <a:pt x="1220" y="37"/>
                    <a:pt x="1230" y="37"/>
                  </a:cubicBezTo>
                  <a:cubicBezTo>
                    <a:pt x="1234" y="37"/>
                    <a:pt x="1238" y="38"/>
                    <a:pt x="1239" y="39"/>
                  </a:cubicBezTo>
                  <a:cubicBezTo>
                    <a:pt x="1239" y="65"/>
                    <a:pt x="1239" y="65"/>
                    <a:pt x="1239" y="65"/>
                  </a:cubicBezTo>
                  <a:cubicBezTo>
                    <a:pt x="1238" y="65"/>
                    <a:pt x="1238" y="65"/>
                    <a:pt x="1238" y="65"/>
                  </a:cubicBezTo>
                  <a:cubicBezTo>
                    <a:pt x="1235" y="64"/>
                    <a:pt x="1231" y="63"/>
                    <a:pt x="1226" y="63"/>
                  </a:cubicBezTo>
                  <a:cubicBezTo>
                    <a:pt x="1217" y="63"/>
                    <a:pt x="1210" y="68"/>
                    <a:pt x="1208" y="78"/>
                  </a:cubicBezTo>
                  <a:cubicBezTo>
                    <a:pt x="1208" y="132"/>
                    <a:pt x="1208" y="132"/>
                    <a:pt x="1208" y="132"/>
                  </a:cubicBezTo>
                  <a:cubicBezTo>
                    <a:pt x="1180" y="132"/>
                    <a:pt x="1180" y="132"/>
                    <a:pt x="1180" y="132"/>
                  </a:cubicBezTo>
                  <a:cubicBezTo>
                    <a:pt x="1180" y="38"/>
                    <a:pt x="1180" y="38"/>
                    <a:pt x="1180" y="38"/>
                  </a:cubicBezTo>
                  <a:cubicBezTo>
                    <a:pt x="1207" y="38"/>
                    <a:pt x="1207" y="38"/>
                    <a:pt x="1207" y="38"/>
                  </a:cubicBezTo>
                  <a:cubicBezTo>
                    <a:pt x="1207" y="53"/>
                    <a:pt x="1207" y="53"/>
                    <a:pt x="1207" y="53"/>
                  </a:cubicBezTo>
                  <a:close/>
                  <a:moveTo>
                    <a:pt x="1314" y="122"/>
                  </a:moveTo>
                  <a:cubicBezTo>
                    <a:pt x="1308" y="130"/>
                    <a:pt x="1298" y="134"/>
                    <a:pt x="1286" y="134"/>
                  </a:cubicBezTo>
                  <a:cubicBezTo>
                    <a:pt x="1262" y="134"/>
                    <a:pt x="1246" y="112"/>
                    <a:pt x="1246" y="85"/>
                  </a:cubicBezTo>
                  <a:cubicBezTo>
                    <a:pt x="1246" y="58"/>
                    <a:pt x="1262" y="36"/>
                    <a:pt x="1286" y="36"/>
                  </a:cubicBezTo>
                  <a:cubicBezTo>
                    <a:pt x="1298" y="36"/>
                    <a:pt x="1307" y="40"/>
                    <a:pt x="1313" y="47"/>
                  </a:cubicBezTo>
                  <a:cubicBezTo>
                    <a:pt x="1313" y="0"/>
                    <a:pt x="1313" y="0"/>
                    <a:pt x="1313" y="0"/>
                  </a:cubicBezTo>
                  <a:cubicBezTo>
                    <a:pt x="1341" y="0"/>
                    <a:pt x="1341" y="0"/>
                    <a:pt x="1341" y="0"/>
                  </a:cubicBezTo>
                  <a:cubicBezTo>
                    <a:pt x="1341" y="132"/>
                    <a:pt x="1341" y="132"/>
                    <a:pt x="1341" y="132"/>
                  </a:cubicBezTo>
                  <a:cubicBezTo>
                    <a:pt x="1314" y="132"/>
                    <a:pt x="1314" y="132"/>
                    <a:pt x="1314" y="132"/>
                  </a:cubicBezTo>
                  <a:cubicBezTo>
                    <a:pt x="1314" y="122"/>
                    <a:pt x="1314" y="122"/>
                    <a:pt x="1314" y="122"/>
                  </a:cubicBezTo>
                  <a:close/>
                  <a:moveTo>
                    <a:pt x="1313" y="100"/>
                  </a:moveTo>
                  <a:cubicBezTo>
                    <a:pt x="1313" y="70"/>
                    <a:pt x="1313" y="70"/>
                    <a:pt x="1313" y="70"/>
                  </a:cubicBezTo>
                  <a:cubicBezTo>
                    <a:pt x="1308" y="63"/>
                    <a:pt x="1302" y="60"/>
                    <a:pt x="1295" y="60"/>
                  </a:cubicBezTo>
                  <a:cubicBezTo>
                    <a:pt x="1283" y="60"/>
                    <a:pt x="1275" y="69"/>
                    <a:pt x="1275" y="85"/>
                  </a:cubicBezTo>
                  <a:cubicBezTo>
                    <a:pt x="1275" y="101"/>
                    <a:pt x="1283" y="110"/>
                    <a:pt x="1295" y="110"/>
                  </a:cubicBezTo>
                  <a:cubicBezTo>
                    <a:pt x="1302" y="110"/>
                    <a:pt x="1308" y="107"/>
                    <a:pt x="1313" y="100"/>
                  </a:cubicBezTo>
                  <a:close/>
                  <a:moveTo>
                    <a:pt x="0" y="175"/>
                  </a:moveTo>
                  <a:cubicBezTo>
                    <a:pt x="81" y="175"/>
                    <a:pt x="81" y="175"/>
                    <a:pt x="81" y="175"/>
                  </a:cubicBezTo>
                  <a:cubicBezTo>
                    <a:pt x="81" y="191"/>
                    <a:pt x="81" y="191"/>
                    <a:pt x="81" y="191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231"/>
                    <a:pt x="18" y="231"/>
                    <a:pt x="18" y="231"/>
                  </a:cubicBezTo>
                  <a:cubicBezTo>
                    <a:pt x="75" y="231"/>
                    <a:pt x="75" y="231"/>
                    <a:pt x="75" y="231"/>
                  </a:cubicBezTo>
                  <a:cubicBezTo>
                    <a:pt x="75" y="247"/>
                    <a:pt x="75" y="247"/>
                    <a:pt x="75" y="247"/>
                  </a:cubicBezTo>
                  <a:cubicBezTo>
                    <a:pt x="18" y="247"/>
                    <a:pt x="18" y="247"/>
                    <a:pt x="18" y="247"/>
                  </a:cubicBezTo>
                  <a:cubicBezTo>
                    <a:pt x="18" y="291"/>
                    <a:pt x="18" y="291"/>
                    <a:pt x="18" y="291"/>
                  </a:cubicBezTo>
                  <a:cubicBezTo>
                    <a:pt x="81" y="291"/>
                    <a:pt x="81" y="291"/>
                    <a:pt x="81" y="291"/>
                  </a:cubicBezTo>
                  <a:cubicBezTo>
                    <a:pt x="81" y="307"/>
                    <a:pt x="81" y="307"/>
                    <a:pt x="81" y="307"/>
                  </a:cubicBezTo>
                  <a:cubicBezTo>
                    <a:pt x="0" y="307"/>
                    <a:pt x="0" y="307"/>
                    <a:pt x="0" y="307"/>
                  </a:cubicBezTo>
                  <a:lnTo>
                    <a:pt x="0" y="175"/>
                  </a:lnTo>
                  <a:close/>
                  <a:moveTo>
                    <a:pt x="149" y="212"/>
                  </a:moveTo>
                  <a:cubicBezTo>
                    <a:pt x="169" y="212"/>
                    <a:pt x="181" y="226"/>
                    <a:pt x="181" y="24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64" y="307"/>
                    <a:pt x="164" y="307"/>
                    <a:pt x="164" y="307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4" y="237"/>
                    <a:pt x="157" y="228"/>
                    <a:pt x="144" y="228"/>
                  </a:cubicBezTo>
                  <a:cubicBezTo>
                    <a:pt x="133" y="228"/>
                    <a:pt x="124" y="235"/>
                    <a:pt x="121" y="245"/>
                  </a:cubicBezTo>
                  <a:cubicBezTo>
                    <a:pt x="121" y="307"/>
                    <a:pt x="121" y="307"/>
                    <a:pt x="121" y="307"/>
                  </a:cubicBezTo>
                  <a:cubicBezTo>
                    <a:pt x="103" y="307"/>
                    <a:pt x="103" y="307"/>
                    <a:pt x="103" y="307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26" y="219"/>
                    <a:pt x="136" y="212"/>
                    <a:pt x="149" y="212"/>
                  </a:cubicBezTo>
                  <a:close/>
                  <a:moveTo>
                    <a:pt x="228" y="214"/>
                  </a:moveTo>
                  <a:cubicBezTo>
                    <a:pt x="252" y="214"/>
                    <a:pt x="252" y="214"/>
                    <a:pt x="252" y="214"/>
                  </a:cubicBezTo>
                  <a:cubicBezTo>
                    <a:pt x="252" y="229"/>
                    <a:pt x="252" y="229"/>
                    <a:pt x="252" y="229"/>
                  </a:cubicBezTo>
                  <a:cubicBezTo>
                    <a:pt x="228" y="229"/>
                    <a:pt x="228" y="229"/>
                    <a:pt x="228" y="229"/>
                  </a:cubicBezTo>
                  <a:cubicBezTo>
                    <a:pt x="228" y="279"/>
                    <a:pt x="228" y="279"/>
                    <a:pt x="228" y="279"/>
                  </a:cubicBezTo>
                  <a:cubicBezTo>
                    <a:pt x="228" y="289"/>
                    <a:pt x="234" y="293"/>
                    <a:pt x="243" y="293"/>
                  </a:cubicBezTo>
                  <a:cubicBezTo>
                    <a:pt x="246" y="293"/>
                    <a:pt x="249" y="293"/>
                    <a:pt x="251" y="292"/>
                  </a:cubicBezTo>
                  <a:cubicBezTo>
                    <a:pt x="252" y="292"/>
                    <a:pt x="252" y="292"/>
                    <a:pt x="252" y="292"/>
                  </a:cubicBezTo>
                  <a:cubicBezTo>
                    <a:pt x="252" y="307"/>
                    <a:pt x="252" y="307"/>
                    <a:pt x="252" y="307"/>
                  </a:cubicBezTo>
                  <a:cubicBezTo>
                    <a:pt x="249" y="308"/>
                    <a:pt x="246" y="309"/>
                    <a:pt x="241" y="309"/>
                  </a:cubicBezTo>
                  <a:cubicBezTo>
                    <a:pt x="219" y="309"/>
                    <a:pt x="211" y="299"/>
                    <a:pt x="211" y="281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195" y="229"/>
                    <a:pt x="195" y="229"/>
                    <a:pt x="195" y="229"/>
                  </a:cubicBezTo>
                  <a:cubicBezTo>
                    <a:pt x="195" y="214"/>
                    <a:pt x="195" y="214"/>
                    <a:pt x="195" y="214"/>
                  </a:cubicBezTo>
                  <a:cubicBezTo>
                    <a:pt x="211" y="214"/>
                    <a:pt x="211" y="214"/>
                    <a:pt x="211" y="214"/>
                  </a:cubicBezTo>
                  <a:cubicBezTo>
                    <a:pt x="211" y="189"/>
                    <a:pt x="211" y="189"/>
                    <a:pt x="211" y="189"/>
                  </a:cubicBezTo>
                  <a:cubicBezTo>
                    <a:pt x="228" y="189"/>
                    <a:pt x="228" y="189"/>
                    <a:pt x="228" y="189"/>
                  </a:cubicBezTo>
                  <a:lnTo>
                    <a:pt x="228" y="214"/>
                  </a:lnTo>
                  <a:close/>
                  <a:moveTo>
                    <a:pt x="309" y="309"/>
                  </a:moveTo>
                  <a:cubicBezTo>
                    <a:pt x="282" y="309"/>
                    <a:pt x="263" y="290"/>
                    <a:pt x="263" y="261"/>
                  </a:cubicBezTo>
                  <a:cubicBezTo>
                    <a:pt x="263" y="232"/>
                    <a:pt x="280" y="212"/>
                    <a:pt x="305" y="212"/>
                  </a:cubicBezTo>
                  <a:cubicBezTo>
                    <a:pt x="331" y="212"/>
                    <a:pt x="344" y="230"/>
                    <a:pt x="344" y="258"/>
                  </a:cubicBezTo>
                  <a:cubicBezTo>
                    <a:pt x="344" y="266"/>
                    <a:pt x="344" y="266"/>
                    <a:pt x="344" y="266"/>
                  </a:cubicBezTo>
                  <a:cubicBezTo>
                    <a:pt x="281" y="266"/>
                    <a:pt x="281" y="266"/>
                    <a:pt x="281" y="266"/>
                  </a:cubicBezTo>
                  <a:cubicBezTo>
                    <a:pt x="282" y="284"/>
                    <a:pt x="295" y="293"/>
                    <a:pt x="311" y="293"/>
                  </a:cubicBezTo>
                  <a:cubicBezTo>
                    <a:pt x="321" y="293"/>
                    <a:pt x="329" y="291"/>
                    <a:pt x="337" y="285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8" y="300"/>
                    <a:pt x="338" y="300"/>
                    <a:pt x="338" y="300"/>
                  </a:cubicBezTo>
                  <a:cubicBezTo>
                    <a:pt x="330" y="306"/>
                    <a:pt x="320" y="309"/>
                    <a:pt x="309" y="309"/>
                  </a:cubicBezTo>
                  <a:close/>
                  <a:moveTo>
                    <a:pt x="281" y="251"/>
                  </a:moveTo>
                  <a:cubicBezTo>
                    <a:pt x="327" y="251"/>
                    <a:pt x="327" y="251"/>
                    <a:pt x="327" y="251"/>
                  </a:cubicBezTo>
                  <a:cubicBezTo>
                    <a:pt x="327" y="237"/>
                    <a:pt x="320" y="227"/>
                    <a:pt x="306" y="227"/>
                  </a:cubicBezTo>
                  <a:cubicBezTo>
                    <a:pt x="292" y="227"/>
                    <a:pt x="284" y="237"/>
                    <a:pt x="281" y="251"/>
                  </a:cubicBezTo>
                  <a:close/>
                  <a:moveTo>
                    <a:pt x="382" y="228"/>
                  </a:moveTo>
                  <a:cubicBezTo>
                    <a:pt x="386" y="218"/>
                    <a:pt x="395" y="212"/>
                    <a:pt x="405" y="212"/>
                  </a:cubicBezTo>
                  <a:cubicBezTo>
                    <a:pt x="409" y="212"/>
                    <a:pt x="413" y="213"/>
                    <a:pt x="414" y="214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4" y="231"/>
                    <a:pt x="414" y="231"/>
                    <a:pt x="414" y="231"/>
                  </a:cubicBezTo>
                  <a:cubicBezTo>
                    <a:pt x="411" y="230"/>
                    <a:pt x="407" y="229"/>
                    <a:pt x="403" y="229"/>
                  </a:cubicBezTo>
                  <a:cubicBezTo>
                    <a:pt x="393" y="229"/>
                    <a:pt x="385" y="236"/>
                    <a:pt x="382" y="246"/>
                  </a:cubicBezTo>
                  <a:cubicBezTo>
                    <a:pt x="382" y="307"/>
                    <a:pt x="382" y="307"/>
                    <a:pt x="382" y="307"/>
                  </a:cubicBezTo>
                  <a:cubicBezTo>
                    <a:pt x="365" y="307"/>
                    <a:pt x="365" y="307"/>
                    <a:pt x="365" y="307"/>
                  </a:cubicBezTo>
                  <a:cubicBezTo>
                    <a:pt x="365" y="214"/>
                    <a:pt x="365" y="214"/>
                    <a:pt x="365" y="214"/>
                  </a:cubicBezTo>
                  <a:cubicBezTo>
                    <a:pt x="382" y="214"/>
                    <a:pt x="382" y="214"/>
                    <a:pt x="382" y="214"/>
                  </a:cubicBezTo>
                  <a:cubicBezTo>
                    <a:pt x="382" y="228"/>
                    <a:pt x="382" y="228"/>
                    <a:pt x="382" y="228"/>
                  </a:cubicBezTo>
                  <a:close/>
                  <a:moveTo>
                    <a:pt x="474" y="212"/>
                  </a:moveTo>
                  <a:cubicBezTo>
                    <a:pt x="502" y="212"/>
                    <a:pt x="516" y="235"/>
                    <a:pt x="516" y="260"/>
                  </a:cubicBezTo>
                  <a:cubicBezTo>
                    <a:pt x="516" y="286"/>
                    <a:pt x="502" y="309"/>
                    <a:pt x="474" y="309"/>
                  </a:cubicBezTo>
                  <a:cubicBezTo>
                    <a:pt x="463" y="309"/>
                    <a:pt x="453" y="303"/>
                    <a:pt x="448" y="296"/>
                  </a:cubicBezTo>
                  <a:cubicBezTo>
                    <a:pt x="448" y="342"/>
                    <a:pt x="448" y="342"/>
                    <a:pt x="448" y="342"/>
                  </a:cubicBezTo>
                  <a:cubicBezTo>
                    <a:pt x="430" y="342"/>
                    <a:pt x="430" y="342"/>
                    <a:pt x="430" y="342"/>
                  </a:cubicBezTo>
                  <a:cubicBezTo>
                    <a:pt x="430" y="214"/>
                    <a:pt x="430" y="214"/>
                    <a:pt x="430" y="214"/>
                  </a:cubicBezTo>
                  <a:cubicBezTo>
                    <a:pt x="448" y="214"/>
                    <a:pt x="448" y="214"/>
                    <a:pt x="448" y="21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53" y="218"/>
                    <a:pt x="463" y="212"/>
                    <a:pt x="474" y="212"/>
                  </a:cubicBezTo>
                  <a:close/>
                  <a:moveTo>
                    <a:pt x="471" y="293"/>
                  </a:moveTo>
                  <a:cubicBezTo>
                    <a:pt x="488" y="293"/>
                    <a:pt x="498" y="279"/>
                    <a:pt x="498" y="260"/>
                  </a:cubicBezTo>
                  <a:cubicBezTo>
                    <a:pt x="498" y="242"/>
                    <a:pt x="488" y="228"/>
                    <a:pt x="471" y="228"/>
                  </a:cubicBezTo>
                  <a:cubicBezTo>
                    <a:pt x="461" y="228"/>
                    <a:pt x="453" y="233"/>
                    <a:pt x="448" y="243"/>
                  </a:cubicBezTo>
                  <a:cubicBezTo>
                    <a:pt x="448" y="278"/>
                    <a:pt x="448" y="278"/>
                    <a:pt x="448" y="278"/>
                  </a:cubicBezTo>
                  <a:cubicBezTo>
                    <a:pt x="453" y="287"/>
                    <a:pt x="461" y="293"/>
                    <a:pt x="471" y="293"/>
                  </a:cubicBezTo>
                  <a:close/>
                  <a:moveTo>
                    <a:pt x="554" y="228"/>
                  </a:moveTo>
                  <a:cubicBezTo>
                    <a:pt x="558" y="218"/>
                    <a:pt x="567" y="212"/>
                    <a:pt x="577" y="212"/>
                  </a:cubicBezTo>
                  <a:cubicBezTo>
                    <a:pt x="581" y="212"/>
                    <a:pt x="585" y="213"/>
                    <a:pt x="587" y="214"/>
                  </a:cubicBezTo>
                  <a:cubicBezTo>
                    <a:pt x="587" y="231"/>
                    <a:pt x="587" y="231"/>
                    <a:pt x="587" y="231"/>
                  </a:cubicBezTo>
                  <a:cubicBezTo>
                    <a:pt x="586" y="231"/>
                    <a:pt x="586" y="231"/>
                    <a:pt x="586" y="231"/>
                  </a:cubicBezTo>
                  <a:cubicBezTo>
                    <a:pt x="583" y="230"/>
                    <a:pt x="579" y="229"/>
                    <a:pt x="575" y="229"/>
                  </a:cubicBezTo>
                  <a:cubicBezTo>
                    <a:pt x="565" y="229"/>
                    <a:pt x="557" y="236"/>
                    <a:pt x="554" y="246"/>
                  </a:cubicBezTo>
                  <a:cubicBezTo>
                    <a:pt x="554" y="307"/>
                    <a:pt x="554" y="307"/>
                    <a:pt x="554" y="307"/>
                  </a:cubicBezTo>
                  <a:cubicBezTo>
                    <a:pt x="537" y="307"/>
                    <a:pt x="537" y="307"/>
                    <a:pt x="537" y="307"/>
                  </a:cubicBezTo>
                  <a:cubicBezTo>
                    <a:pt x="537" y="214"/>
                    <a:pt x="537" y="214"/>
                    <a:pt x="537" y="214"/>
                  </a:cubicBezTo>
                  <a:cubicBezTo>
                    <a:pt x="554" y="214"/>
                    <a:pt x="554" y="214"/>
                    <a:pt x="554" y="214"/>
                  </a:cubicBezTo>
                  <a:cubicBezTo>
                    <a:pt x="554" y="228"/>
                    <a:pt x="554" y="228"/>
                    <a:pt x="554" y="228"/>
                  </a:cubicBezTo>
                  <a:close/>
                  <a:moveTo>
                    <a:pt x="612" y="176"/>
                  </a:moveTo>
                  <a:cubicBezTo>
                    <a:pt x="618" y="176"/>
                    <a:pt x="623" y="181"/>
                    <a:pt x="623" y="187"/>
                  </a:cubicBezTo>
                  <a:cubicBezTo>
                    <a:pt x="623" y="193"/>
                    <a:pt x="618" y="198"/>
                    <a:pt x="612" y="198"/>
                  </a:cubicBezTo>
                  <a:cubicBezTo>
                    <a:pt x="606" y="198"/>
                    <a:pt x="601" y="193"/>
                    <a:pt x="601" y="187"/>
                  </a:cubicBezTo>
                  <a:cubicBezTo>
                    <a:pt x="601" y="181"/>
                    <a:pt x="606" y="176"/>
                    <a:pt x="612" y="176"/>
                  </a:cubicBezTo>
                  <a:close/>
                  <a:moveTo>
                    <a:pt x="603" y="214"/>
                  </a:moveTo>
                  <a:cubicBezTo>
                    <a:pt x="621" y="214"/>
                    <a:pt x="621" y="214"/>
                    <a:pt x="621" y="214"/>
                  </a:cubicBezTo>
                  <a:cubicBezTo>
                    <a:pt x="621" y="307"/>
                    <a:pt x="621" y="307"/>
                    <a:pt x="621" y="307"/>
                  </a:cubicBezTo>
                  <a:cubicBezTo>
                    <a:pt x="603" y="307"/>
                    <a:pt x="603" y="307"/>
                    <a:pt x="603" y="307"/>
                  </a:cubicBezTo>
                  <a:lnTo>
                    <a:pt x="603" y="214"/>
                  </a:lnTo>
                  <a:close/>
                  <a:moveTo>
                    <a:pt x="683" y="252"/>
                  </a:moveTo>
                  <a:cubicBezTo>
                    <a:pt x="696" y="257"/>
                    <a:pt x="711" y="262"/>
                    <a:pt x="711" y="280"/>
                  </a:cubicBezTo>
                  <a:cubicBezTo>
                    <a:pt x="711" y="299"/>
                    <a:pt x="696" y="309"/>
                    <a:pt x="675" y="309"/>
                  </a:cubicBezTo>
                  <a:cubicBezTo>
                    <a:pt x="663" y="309"/>
                    <a:pt x="651" y="306"/>
                    <a:pt x="644" y="300"/>
                  </a:cubicBezTo>
                  <a:cubicBezTo>
                    <a:pt x="644" y="283"/>
                    <a:pt x="644" y="283"/>
                    <a:pt x="644" y="283"/>
                  </a:cubicBezTo>
                  <a:cubicBezTo>
                    <a:pt x="645" y="283"/>
                    <a:pt x="645" y="283"/>
                    <a:pt x="645" y="283"/>
                  </a:cubicBezTo>
                  <a:cubicBezTo>
                    <a:pt x="653" y="291"/>
                    <a:pt x="664" y="294"/>
                    <a:pt x="675" y="294"/>
                  </a:cubicBezTo>
                  <a:cubicBezTo>
                    <a:pt x="685" y="294"/>
                    <a:pt x="694" y="290"/>
                    <a:pt x="694" y="282"/>
                  </a:cubicBezTo>
                  <a:cubicBezTo>
                    <a:pt x="694" y="274"/>
                    <a:pt x="687" y="272"/>
                    <a:pt x="672" y="267"/>
                  </a:cubicBezTo>
                  <a:cubicBezTo>
                    <a:pt x="659" y="263"/>
                    <a:pt x="644" y="258"/>
                    <a:pt x="644" y="240"/>
                  </a:cubicBezTo>
                  <a:cubicBezTo>
                    <a:pt x="644" y="223"/>
                    <a:pt x="659" y="212"/>
                    <a:pt x="678" y="212"/>
                  </a:cubicBezTo>
                  <a:cubicBezTo>
                    <a:pt x="689" y="212"/>
                    <a:pt x="699" y="214"/>
                    <a:pt x="706" y="220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706" y="236"/>
                    <a:pt x="706" y="236"/>
                    <a:pt x="706" y="236"/>
                  </a:cubicBezTo>
                  <a:cubicBezTo>
                    <a:pt x="698" y="230"/>
                    <a:pt x="689" y="227"/>
                    <a:pt x="678" y="227"/>
                  </a:cubicBezTo>
                  <a:cubicBezTo>
                    <a:pt x="667" y="227"/>
                    <a:pt x="661" y="232"/>
                    <a:pt x="661" y="238"/>
                  </a:cubicBezTo>
                  <a:cubicBezTo>
                    <a:pt x="661" y="246"/>
                    <a:pt x="668" y="248"/>
                    <a:pt x="683" y="252"/>
                  </a:cubicBezTo>
                  <a:close/>
                  <a:moveTo>
                    <a:pt x="772" y="309"/>
                  </a:moveTo>
                  <a:cubicBezTo>
                    <a:pt x="745" y="309"/>
                    <a:pt x="726" y="290"/>
                    <a:pt x="726" y="261"/>
                  </a:cubicBezTo>
                  <a:cubicBezTo>
                    <a:pt x="726" y="232"/>
                    <a:pt x="744" y="212"/>
                    <a:pt x="769" y="212"/>
                  </a:cubicBezTo>
                  <a:cubicBezTo>
                    <a:pt x="794" y="212"/>
                    <a:pt x="807" y="230"/>
                    <a:pt x="807" y="258"/>
                  </a:cubicBezTo>
                  <a:cubicBezTo>
                    <a:pt x="807" y="266"/>
                    <a:pt x="807" y="266"/>
                    <a:pt x="807" y="266"/>
                  </a:cubicBezTo>
                  <a:cubicBezTo>
                    <a:pt x="744" y="266"/>
                    <a:pt x="744" y="266"/>
                    <a:pt x="744" y="266"/>
                  </a:cubicBezTo>
                  <a:cubicBezTo>
                    <a:pt x="746" y="284"/>
                    <a:pt x="758" y="293"/>
                    <a:pt x="774" y="293"/>
                  </a:cubicBezTo>
                  <a:cubicBezTo>
                    <a:pt x="785" y="293"/>
                    <a:pt x="792" y="291"/>
                    <a:pt x="800" y="285"/>
                  </a:cubicBezTo>
                  <a:cubicBezTo>
                    <a:pt x="801" y="285"/>
                    <a:pt x="801" y="285"/>
                    <a:pt x="801" y="285"/>
                  </a:cubicBezTo>
                  <a:cubicBezTo>
                    <a:pt x="801" y="300"/>
                    <a:pt x="801" y="300"/>
                    <a:pt x="801" y="300"/>
                  </a:cubicBezTo>
                  <a:cubicBezTo>
                    <a:pt x="793" y="306"/>
                    <a:pt x="783" y="309"/>
                    <a:pt x="772" y="309"/>
                  </a:cubicBezTo>
                  <a:close/>
                  <a:moveTo>
                    <a:pt x="744" y="251"/>
                  </a:moveTo>
                  <a:cubicBezTo>
                    <a:pt x="791" y="251"/>
                    <a:pt x="791" y="251"/>
                    <a:pt x="791" y="251"/>
                  </a:cubicBezTo>
                  <a:cubicBezTo>
                    <a:pt x="790" y="237"/>
                    <a:pt x="783" y="227"/>
                    <a:pt x="769" y="227"/>
                  </a:cubicBezTo>
                  <a:cubicBezTo>
                    <a:pt x="756" y="227"/>
                    <a:pt x="747" y="237"/>
                    <a:pt x="744" y="25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dirty="0">
                <a:latin typeface="MetricHPE Black" panose="020B0A03030202060203" pitchFamily="34" charset="0"/>
              </a:endParaRPr>
            </a:p>
          </p:txBody>
        </p:sp>
      </p:grpSp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>
          <a:xfrm>
            <a:off x="290747" y="1869197"/>
            <a:ext cx="11423555" cy="1905000"/>
          </a:xfrm>
        </p:spPr>
        <p:txBody>
          <a:bodyPr anchor="b"/>
          <a:lstStyle>
            <a:lvl1pPr>
              <a:lnSpc>
                <a:spcPct val="80000"/>
              </a:lnSpc>
              <a:defRPr sz="44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  <a:endParaRPr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379647" y="3890957"/>
            <a:ext cx="530283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0747" y="4133088"/>
            <a:ext cx="8229600" cy="43891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MetricHPE" panose="020B050303020206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  <a:endParaRPr dirty="0"/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90747" y="4577983"/>
            <a:ext cx="5489578" cy="33921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 baseline="0">
                <a:solidFill>
                  <a:schemeClr val="tx1"/>
                </a:solidFill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8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Fram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648" y="6246014"/>
            <a:ext cx="954000" cy="274320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88995" y="685800"/>
            <a:ext cx="8522208" cy="1957353"/>
          </a:xfrm>
        </p:spPr>
        <p:txBody>
          <a:bodyPr lIns="91440" tIns="91440" rIns="91440" bIns="91440" anchor="b" anchorCtr="0"/>
          <a:lstStyle>
            <a:lvl1pPr>
              <a:defRPr sz="3200" baseline="0"/>
            </a:lvl1pPr>
          </a:lstStyle>
          <a:p>
            <a:r>
              <a:rPr lang="en-US" dirty="0"/>
              <a:t>Click to add section header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88994" y="2871000"/>
            <a:ext cx="8228011" cy="533400"/>
          </a:xfrm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600">
                <a:latin typeface="MetricHPE" panose="020B0503030202060203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377894" y="2716146"/>
            <a:ext cx="8522208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51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285750" y="999160"/>
            <a:ext cx="11525249" cy="5096839"/>
          </a:xfrm>
        </p:spPr>
        <p:txBody>
          <a:bodyPr lIns="91440" rIns="91440"/>
          <a:lstStyle>
            <a:lvl1pPr>
              <a:buClrTx/>
              <a:defRPr>
                <a:latin typeface="MetricHPE" panose="020B0503030202060203" pitchFamily="34" charset="0"/>
              </a:defRPr>
            </a:lvl1pPr>
            <a:lvl2pPr>
              <a:buClrTx/>
              <a:defRPr>
                <a:latin typeface="MetricHPE" panose="020B0503030202060203" pitchFamily="34" charset="0"/>
              </a:defRPr>
            </a:lvl2pPr>
            <a:lvl3pPr>
              <a:buClrTx/>
              <a:defRPr>
                <a:latin typeface="MetricHPE" panose="020B0503030202060203" pitchFamily="34" charset="0"/>
              </a:defRPr>
            </a:lvl3pPr>
            <a:lvl4pPr>
              <a:buClrTx/>
              <a:defRPr>
                <a:latin typeface="MetricHPE" panose="020B0503030202060203" pitchFamily="34" charset="0"/>
              </a:defRPr>
            </a:lvl4pPr>
            <a:lvl5pPr>
              <a:buClrTx/>
              <a:defRPr>
                <a:latin typeface="MetricHPE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46014"/>
            <a:ext cx="954000" cy="27432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29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 dirty="0">
              <a:solidFill>
                <a:prstClr val="white"/>
              </a:solidFill>
              <a:latin typeface="MetricHPE" panose="020B0503030202060203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E54251-B0D2-4947-83BB-BD7F95F3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79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5743" y="391852"/>
            <a:ext cx="11430000" cy="401362"/>
          </a:xfrm>
          <a:prstGeom prst="rect">
            <a:avLst/>
          </a:prstGeom>
          <a:ln w="57150">
            <a:noFill/>
            <a:miter lim="800000"/>
          </a:ln>
        </p:spPr>
        <p:txBody>
          <a:bodyPr vert="horz" lIns="91440" tIns="91440" rIns="91440" bIns="9144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909" y="998682"/>
            <a:ext cx="11429834" cy="4571999"/>
          </a:xfrm>
          <a:prstGeom prst="rect">
            <a:avLst/>
          </a:prstGeom>
          <a:ln w="57150">
            <a:noFill/>
            <a:miter lim="800000"/>
          </a:ln>
        </p:spPr>
        <p:txBody>
          <a:bodyPr vert="horz" lIns="91440" tIns="91440" rIns="9144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2856" y="6301811"/>
            <a:ext cx="6843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205699" indent="-205699" algn="l">
              <a:lnSpc>
                <a:spcPct val="90000"/>
              </a:lnSpc>
              <a:buSzPct val="120000"/>
              <a:buFontTx/>
              <a:buBlip>
                <a:blip r:embed="rId6"/>
              </a:buBlip>
              <a:defRPr sz="2000" kern="1200" cap="all" normalizeH="0" baseline="10000">
                <a:solidFill>
                  <a:schemeClr val="bg2"/>
                </a:solidFill>
                <a:latin typeface="MetricHPE" panose="020B0503030202060203" pitchFamily="34" charset="0"/>
              </a:defRPr>
            </a:lvl1pPr>
          </a:lstStyle>
          <a:p>
            <a:pPr defTabSz="1088421">
              <a:buFontTx/>
              <a:buBlip>
                <a:blip r:embed="rId6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6"/>
                </a:buBlip>
              </a:pPr>
              <a:t>‹#›</a:t>
            </a:fld>
            <a:endParaRPr lang="en-US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8056" y="6336077"/>
            <a:ext cx="4114800" cy="22071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lnSpc>
                <a:spcPct val="90000"/>
              </a:lnSpc>
              <a:defRPr sz="1200" cap="all" baseline="0">
                <a:solidFill>
                  <a:schemeClr val="bg2"/>
                </a:solidFill>
                <a:latin typeface="MetricHPE" panose="020B0503030202060203" pitchFamily="34" charset="0"/>
              </a:defRPr>
            </a:lvl1pPr>
          </a:lstStyle>
          <a:p>
            <a:r>
              <a:rPr lang="en-US" dirty="0"/>
              <a:t>CONFIDENTIAL | AUTHORIZED</a:t>
            </a:r>
          </a:p>
        </p:txBody>
      </p:sp>
    </p:spTree>
    <p:extLst>
      <p:ext uri="{BB962C8B-B14F-4D97-AF65-F5344CB8AC3E}">
        <p14:creationId xmlns:p14="http://schemas.microsoft.com/office/powerpoint/2010/main" val="168365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62" r:id="rId2"/>
    <p:sldLayoutId id="2147483650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 cap="all" baseline="0">
          <a:solidFill>
            <a:schemeClr val="tx1"/>
          </a:solidFill>
          <a:latin typeface="MetricHPE Black" panose="020B0A03030202060203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•"/>
        <a:defRPr sz="2200" kern="1200">
          <a:solidFill>
            <a:schemeClr val="tx1"/>
          </a:solidFill>
          <a:latin typeface="MetricHPE" panose="020B0503030202060203" pitchFamily="34" charset="0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400"/>
        </a:spcBef>
        <a:buClrTx/>
        <a:buSzPct val="90000"/>
        <a:buFont typeface="" panose="020B0303030202060203" pitchFamily="34" charset="0"/>
        <a:buChar char="•"/>
        <a:defRPr sz="2000" kern="1200">
          <a:solidFill>
            <a:schemeClr val="tx1"/>
          </a:solidFill>
          <a:latin typeface="MetricHPE" panose="020B0503030202060203" pitchFamily="34" charset="0"/>
          <a:ea typeface="+mn-ea"/>
          <a:cs typeface="+mn-cs"/>
        </a:defRPr>
      </a:lvl2pPr>
      <a:lvl3pPr marL="548640" indent="-13716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–"/>
        <a:defRPr sz="1800" kern="1200">
          <a:solidFill>
            <a:schemeClr val="tx1"/>
          </a:solidFill>
          <a:latin typeface="MetricHPE" panose="020B0503030202060203" pitchFamily="34" charset="0"/>
          <a:ea typeface="+mn-ea"/>
          <a:cs typeface="+mn-cs"/>
        </a:defRPr>
      </a:lvl3pPr>
      <a:lvl4pPr marL="731520" indent="-13716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–"/>
        <a:defRPr sz="1600" kern="1200">
          <a:solidFill>
            <a:schemeClr val="tx1"/>
          </a:solidFill>
          <a:latin typeface="MetricHPE" panose="020B0503030202060203" pitchFamily="34" charset="0"/>
          <a:ea typeface="+mn-ea"/>
          <a:cs typeface="+mn-cs"/>
        </a:defRPr>
      </a:lvl4pPr>
      <a:lvl5pPr marL="868680" indent="-137160" algn="l" defTabSz="914400" rtl="0" eaLnBrk="1" latinLnBrk="0" hangingPunct="1">
        <a:lnSpc>
          <a:spcPct val="90000"/>
        </a:lnSpc>
        <a:spcBef>
          <a:spcPts val="400"/>
        </a:spcBef>
        <a:buClrTx/>
        <a:buFont typeface="" panose="020B0303030202060203" pitchFamily="34" charset="0"/>
        <a:buChar char="–"/>
        <a:defRPr sz="1600" kern="1200">
          <a:solidFill>
            <a:schemeClr val="tx1"/>
          </a:solidFill>
          <a:latin typeface="MetricHPE" panose="020B0503030202060203" pitchFamily="34" charset="0"/>
          <a:ea typeface="+mn-ea"/>
          <a:cs typeface="+mn-cs"/>
        </a:defRPr>
      </a:lvl5pPr>
      <a:lvl6pPr marL="105156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137160" algn="l" defTabSz="914400" rtl="0" eaLnBrk="1" latinLnBrk="0" hangingPunct="1">
        <a:lnSpc>
          <a:spcPct val="90000"/>
        </a:lnSpc>
        <a:spcBef>
          <a:spcPts val="600"/>
        </a:spcBef>
        <a:buClrTx/>
        <a:buFont typeface="" panose="020B03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1440" userDrawn="1">
          <p15:clr>
            <a:srgbClr val="F26B43"/>
          </p15:clr>
        </p15:guide>
        <p15:guide id="8" orient="horz" pos="2880" userDrawn="1">
          <p15:clr>
            <a:srgbClr val="F26B43"/>
          </p15:clr>
        </p15:guide>
        <p15:guide id="9" pos="2568" userDrawn="1">
          <p15:clr>
            <a:srgbClr val="F26B43"/>
          </p15:clr>
        </p15:guide>
        <p15:guide id="10" pos="5112" userDrawn="1">
          <p15:clr>
            <a:srgbClr val="F26B43"/>
          </p15:clr>
        </p15:guide>
        <p15:guide id="11" orient="horz" pos="41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emf"/><Relationship Id="rId11" Type="http://schemas.openxmlformats.org/officeDocument/2006/relationships/image" Target="../media/image14.png"/><Relationship Id="rId5" Type="http://schemas.openxmlformats.org/officeDocument/2006/relationships/image" Target="../media/image8.emf"/><Relationship Id="rId15" Type="http://schemas.openxmlformats.org/officeDocument/2006/relationships/image" Target="../media/image18.emf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emf"/><Relationship Id="rId9" Type="http://schemas.openxmlformats.org/officeDocument/2006/relationships/image" Target="../media/image12.svg"/><Relationship Id="rId1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C916-3399-E210-9C46-B233B920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HEALTHCARE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E071B-3A19-964C-E3BB-88DCD1C6E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Z" dirty="0"/>
              <a:t>Powered by HPE Private Cloud AI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5FD10-6C6F-A056-C16D-8C3CA2373F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Z" dirty="0"/>
              <a:t>Dave McMahon / August 2025</a:t>
            </a:r>
          </a:p>
        </p:txBody>
      </p:sp>
    </p:spTree>
    <p:extLst>
      <p:ext uri="{BB962C8B-B14F-4D97-AF65-F5344CB8AC3E}">
        <p14:creationId xmlns:p14="http://schemas.microsoft.com/office/powerpoint/2010/main" val="238643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1FECA9-BD7D-E908-500C-BD6611C4C7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8201" y="3922678"/>
            <a:ext cx="11525249" cy="1042275"/>
          </a:xfrm>
          <a:ln w="25400">
            <a:noFill/>
          </a:ln>
        </p:spPr>
        <p:txBody>
          <a:bodyPr anchor="ctr"/>
          <a:lstStyle/>
          <a:p>
            <a:pPr marL="0" indent="0" algn="ctr">
              <a:lnSpc>
                <a:spcPct val="90000"/>
              </a:lnSpc>
              <a:spcBef>
                <a:spcPts val="400"/>
              </a:spcBef>
              <a:buNone/>
            </a:pPr>
            <a:r>
              <a:rPr lang="en-CZ" sz="2400" i="1" dirty="0"/>
              <a:t>How can we leverage HPE Private Cloud AI to improve the</a:t>
            </a:r>
          </a:p>
          <a:p>
            <a:pPr marL="0" indent="0" algn="ctr">
              <a:lnSpc>
                <a:spcPct val="90000"/>
              </a:lnSpc>
              <a:spcBef>
                <a:spcPts val="400"/>
              </a:spcBef>
              <a:buNone/>
            </a:pPr>
            <a:r>
              <a:rPr lang="en-CZ" sz="2400" i="1" dirty="0"/>
              <a:t>healthcare experience for patients and healthcare providers alike?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9FB59-8B90-253E-23BE-1BB41B68FA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CONFIDENTIAL | AUTHORIZED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BB60A-C69E-F9A6-CE60-0F87A12E849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4E1093-415D-F3C4-2F93-60FB66509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HeALTHCARE PROVIDER CHALLENGES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7F9A2B-E063-6B53-8743-762E6798EF17}"/>
              </a:ext>
            </a:extLst>
          </p:cNvPr>
          <p:cNvSpPr/>
          <p:nvPr/>
        </p:nvSpPr>
        <p:spPr bwMode="ltGray">
          <a:xfrm>
            <a:off x="338201" y="2513506"/>
            <a:ext cx="2793304" cy="576198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900" i="1" dirty="0">
                <a:solidFill>
                  <a:schemeClr val="tx1"/>
                </a:solidFill>
              </a:rPr>
              <a:t>Resource Constraints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C6C5F3-DB62-4F19-F781-A4A3AF9E6DDD}"/>
              </a:ext>
            </a:extLst>
          </p:cNvPr>
          <p:cNvSpPr/>
          <p:nvPr/>
        </p:nvSpPr>
        <p:spPr bwMode="ltGray">
          <a:xfrm>
            <a:off x="3256766" y="2513506"/>
            <a:ext cx="2793304" cy="576198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900" i="1" dirty="0">
                <a:solidFill>
                  <a:schemeClr val="tx1"/>
                </a:solidFill>
              </a:rPr>
              <a:t>Expertise Shortage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B41774-46AE-D40A-515D-AF5CDB2D07E6}"/>
              </a:ext>
            </a:extLst>
          </p:cNvPr>
          <p:cNvSpPr/>
          <p:nvPr/>
        </p:nvSpPr>
        <p:spPr bwMode="ltGray">
          <a:xfrm>
            <a:off x="6175331" y="2513506"/>
            <a:ext cx="2793304" cy="576198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900" i="1" dirty="0">
                <a:solidFill>
                  <a:schemeClr val="tx1"/>
                </a:solidFill>
              </a:rPr>
              <a:t>Slow Tech Adoption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CF845E-952D-5B42-9769-6C8118129BEB}"/>
              </a:ext>
            </a:extLst>
          </p:cNvPr>
          <p:cNvSpPr/>
          <p:nvPr/>
        </p:nvSpPr>
        <p:spPr bwMode="ltGray">
          <a:xfrm>
            <a:off x="9093896" y="2513506"/>
            <a:ext cx="2793304" cy="576198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900" i="1" dirty="0">
                <a:solidFill>
                  <a:schemeClr val="tx1"/>
                </a:solidFill>
              </a:rPr>
              <a:t>Emerging Challenges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8020AF19-6A6E-8172-936C-F97EAC566DCF}"/>
              </a:ext>
            </a:extLst>
          </p:cNvPr>
          <p:cNvSpPr/>
          <p:nvPr/>
        </p:nvSpPr>
        <p:spPr>
          <a:xfrm rot="16200000">
            <a:off x="5931525" y="-2470547"/>
            <a:ext cx="366192" cy="11795677"/>
          </a:xfrm>
          <a:prstGeom prst="leftBrac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Z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521E1C-9A12-DEA0-09E6-A0D7F48AA3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402" y="1626681"/>
            <a:ext cx="1367243" cy="978065"/>
          </a:xfrm>
          <a:prstGeom prst="rect">
            <a:avLst/>
          </a:prstGeom>
        </p:spPr>
      </p:pic>
      <p:grpSp>
        <p:nvGrpSpPr>
          <p:cNvPr id="13" name="Group 4">
            <a:extLst>
              <a:ext uri="{FF2B5EF4-FFF2-40B4-BE49-F238E27FC236}">
                <a16:creationId xmlns:a16="http://schemas.microsoft.com/office/drawing/2014/main" id="{CFFB0CCE-5164-1B30-5479-52DCF095C80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27495" y="1771226"/>
            <a:ext cx="688975" cy="688975"/>
            <a:chOff x="5664" y="2885"/>
            <a:chExt cx="434" cy="434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4F84E70B-CF9D-EE2C-8DD2-FD9E405D09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664" y="2885"/>
              <a:ext cx="434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2D30023-1ED4-34FF-2122-5CC4B3FD9A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4" y="2895"/>
              <a:ext cx="410" cy="414"/>
            </a:xfrm>
            <a:custGeom>
              <a:avLst/>
              <a:gdLst>
                <a:gd name="T0" fmla="*/ 122 w 170"/>
                <a:gd name="T1" fmla="*/ 0 h 172"/>
                <a:gd name="T2" fmla="*/ 48 w 170"/>
                <a:gd name="T3" fmla="*/ 0 h 172"/>
                <a:gd name="T4" fmla="*/ 0 w 170"/>
                <a:gd name="T5" fmla="*/ 48 h 172"/>
                <a:gd name="T6" fmla="*/ 5 w 170"/>
                <a:gd name="T7" fmla="*/ 122 h 172"/>
                <a:gd name="T8" fmla="*/ 55 w 170"/>
                <a:gd name="T9" fmla="*/ 172 h 172"/>
                <a:gd name="T10" fmla="*/ 97 w 170"/>
                <a:gd name="T11" fmla="*/ 135 h 172"/>
                <a:gd name="T12" fmla="*/ 164 w 170"/>
                <a:gd name="T13" fmla="*/ 124 h 172"/>
                <a:gd name="T14" fmla="*/ 170 w 170"/>
                <a:gd name="T15" fmla="*/ 48 h 172"/>
                <a:gd name="T16" fmla="*/ 122 w 170"/>
                <a:gd name="T17" fmla="*/ 0 h 172"/>
                <a:gd name="T18" fmla="*/ 120 w 170"/>
                <a:gd name="T19" fmla="*/ 0 h 172"/>
                <a:gd name="T20" fmla="*/ 125 w 170"/>
                <a:gd name="T21" fmla="*/ 5 h 172"/>
                <a:gd name="T22" fmla="*/ 120 w 170"/>
                <a:gd name="T23" fmla="*/ 10 h 172"/>
                <a:gd name="T24" fmla="*/ 115 w 170"/>
                <a:gd name="T25" fmla="*/ 5 h 172"/>
                <a:gd name="T26" fmla="*/ 120 w 170"/>
                <a:gd name="T27" fmla="*/ 0 h 172"/>
                <a:gd name="T28" fmla="*/ 50 w 170"/>
                <a:gd name="T29" fmla="*/ 0 h 172"/>
                <a:gd name="T30" fmla="*/ 55 w 170"/>
                <a:gd name="T31" fmla="*/ 5 h 172"/>
                <a:gd name="T32" fmla="*/ 50 w 170"/>
                <a:gd name="T33" fmla="*/ 10 h 172"/>
                <a:gd name="T34" fmla="*/ 45 w 170"/>
                <a:gd name="T35" fmla="*/ 5 h 172"/>
                <a:gd name="T36" fmla="*/ 50 w 170"/>
                <a:gd name="T37" fmla="*/ 0 h 172"/>
                <a:gd name="T38" fmla="*/ 52 w 170"/>
                <a:gd name="T39" fmla="*/ 10 h 172"/>
                <a:gd name="T40" fmla="*/ 118 w 170"/>
                <a:gd name="T41" fmla="*/ 10 h 172"/>
                <a:gd name="T42" fmla="*/ 159 w 170"/>
                <a:gd name="T43" fmla="*/ 52 h 172"/>
                <a:gd name="T44" fmla="*/ 155 w 170"/>
                <a:gd name="T45" fmla="*/ 116 h 172"/>
                <a:gd name="T46" fmla="*/ 93 w 170"/>
                <a:gd name="T47" fmla="*/ 125 h 172"/>
                <a:gd name="T48" fmla="*/ 55 w 170"/>
                <a:gd name="T49" fmla="*/ 158 h 172"/>
                <a:gd name="T50" fmla="*/ 15 w 170"/>
                <a:gd name="T51" fmla="*/ 118 h 172"/>
                <a:gd name="T52" fmla="*/ 10 w 170"/>
                <a:gd name="T53" fmla="*/ 52 h 172"/>
                <a:gd name="T54" fmla="*/ 52 w 170"/>
                <a:gd name="T55" fmla="*/ 10 h 172"/>
                <a:gd name="T56" fmla="*/ 0 w 170"/>
                <a:gd name="T57" fmla="*/ 50 h 172"/>
                <a:gd name="T58" fmla="*/ 5 w 170"/>
                <a:gd name="T59" fmla="*/ 45 h 172"/>
                <a:gd name="T60" fmla="*/ 10 w 170"/>
                <a:gd name="T61" fmla="*/ 50 h 172"/>
                <a:gd name="T62" fmla="*/ 5 w 170"/>
                <a:gd name="T63" fmla="*/ 55 h 172"/>
                <a:gd name="T64" fmla="*/ 0 w 170"/>
                <a:gd name="T65" fmla="*/ 50 h 172"/>
                <a:gd name="T66" fmla="*/ 10 w 170"/>
                <a:gd name="T67" fmla="*/ 125 h 172"/>
                <a:gd name="T68" fmla="*/ 5 w 170"/>
                <a:gd name="T69" fmla="*/ 120 h 172"/>
                <a:gd name="T70" fmla="*/ 10 w 170"/>
                <a:gd name="T71" fmla="*/ 115 h 172"/>
                <a:gd name="T72" fmla="*/ 15 w 170"/>
                <a:gd name="T73" fmla="*/ 120 h 172"/>
                <a:gd name="T74" fmla="*/ 10 w 170"/>
                <a:gd name="T75" fmla="*/ 125 h 172"/>
                <a:gd name="T76" fmla="*/ 55 w 170"/>
                <a:gd name="T77" fmla="*/ 170 h 172"/>
                <a:gd name="T78" fmla="*/ 50 w 170"/>
                <a:gd name="T79" fmla="*/ 165 h 172"/>
                <a:gd name="T80" fmla="*/ 55 w 170"/>
                <a:gd name="T81" fmla="*/ 160 h 172"/>
                <a:gd name="T82" fmla="*/ 60 w 170"/>
                <a:gd name="T83" fmla="*/ 165 h 172"/>
                <a:gd name="T84" fmla="*/ 55 w 170"/>
                <a:gd name="T85" fmla="*/ 170 h 172"/>
                <a:gd name="T86" fmla="*/ 95 w 170"/>
                <a:gd name="T87" fmla="*/ 135 h 172"/>
                <a:gd name="T88" fmla="*/ 90 w 170"/>
                <a:gd name="T89" fmla="*/ 130 h 172"/>
                <a:gd name="T90" fmla="*/ 95 w 170"/>
                <a:gd name="T91" fmla="*/ 125 h 172"/>
                <a:gd name="T92" fmla="*/ 100 w 170"/>
                <a:gd name="T93" fmla="*/ 130 h 172"/>
                <a:gd name="T94" fmla="*/ 95 w 170"/>
                <a:gd name="T95" fmla="*/ 135 h 172"/>
                <a:gd name="T96" fmla="*/ 160 w 170"/>
                <a:gd name="T97" fmla="*/ 125 h 172"/>
                <a:gd name="T98" fmla="*/ 155 w 170"/>
                <a:gd name="T99" fmla="*/ 120 h 172"/>
                <a:gd name="T100" fmla="*/ 160 w 170"/>
                <a:gd name="T101" fmla="*/ 115 h 172"/>
                <a:gd name="T102" fmla="*/ 165 w 170"/>
                <a:gd name="T103" fmla="*/ 120 h 172"/>
                <a:gd name="T104" fmla="*/ 160 w 170"/>
                <a:gd name="T105" fmla="*/ 125 h 172"/>
                <a:gd name="T106" fmla="*/ 165 w 170"/>
                <a:gd name="T107" fmla="*/ 55 h 172"/>
                <a:gd name="T108" fmla="*/ 160 w 170"/>
                <a:gd name="T109" fmla="*/ 50 h 172"/>
                <a:gd name="T110" fmla="*/ 165 w 170"/>
                <a:gd name="T111" fmla="*/ 45 h 172"/>
                <a:gd name="T112" fmla="*/ 170 w 170"/>
                <a:gd name="T113" fmla="*/ 50 h 172"/>
                <a:gd name="T114" fmla="*/ 165 w 170"/>
                <a:gd name="T115" fmla="*/ 5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70" h="172">
                  <a:moveTo>
                    <a:pt x="122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5" y="122"/>
                    <a:pt x="5" y="122"/>
                    <a:pt x="5" y="122"/>
                  </a:cubicBezTo>
                  <a:cubicBezTo>
                    <a:pt x="55" y="172"/>
                    <a:pt x="55" y="172"/>
                    <a:pt x="55" y="172"/>
                  </a:cubicBezTo>
                  <a:cubicBezTo>
                    <a:pt x="97" y="135"/>
                    <a:pt x="97" y="135"/>
                    <a:pt x="97" y="135"/>
                  </a:cubicBezTo>
                  <a:cubicBezTo>
                    <a:pt x="164" y="124"/>
                    <a:pt x="164" y="124"/>
                    <a:pt x="164" y="124"/>
                  </a:cubicBezTo>
                  <a:cubicBezTo>
                    <a:pt x="170" y="48"/>
                    <a:pt x="170" y="48"/>
                    <a:pt x="170" y="48"/>
                  </a:cubicBezTo>
                  <a:lnTo>
                    <a:pt x="122" y="0"/>
                  </a:lnTo>
                  <a:close/>
                  <a:moveTo>
                    <a:pt x="120" y="0"/>
                  </a:moveTo>
                  <a:cubicBezTo>
                    <a:pt x="123" y="0"/>
                    <a:pt x="125" y="3"/>
                    <a:pt x="125" y="5"/>
                  </a:cubicBezTo>
                  <a:cubicBezTo>
                    <a:pt x="125" y="8"/>
                    <a:pt x="123" y="10"/>
                    <a:pt x="120" y="10"/>
                  </a:cubicBezTo>
                  <a:cubicBezTo>
                    <a:pt x="117" y="10"/>
                    <a:pt x="115" y="8"/>
                    <a:pt x="115" y="5"/>
                  </a:cubicBezTo>
                  <a:cubicBezTo>
                    <a:pt x="115" y="3"/>
                    <a:pt x="117" y="0"/>
                    <a:pt x="120" y="0"/>
                  </a:cubicBezTo>
                  <a:close/>
                  <a:moveTo>
                    <a:pt x="50" y="0"/>
                  </a:moveTo>
                  <a:cubicBezTo>
                    <a:pt x="53" y="0"/>
                    <a:pt x="55" y="3"/>
                    <a:pt x="55" y="5"/>
                  </a:cubicBezTo>
                  <a:cubicBezTo>
                    <a:pt x="55" y="8"/>
                    <a:pt x="53" y="10"/>
                    <a:pt x="50" y="10"/>
                  </a:cubicBezTo>
                  <a:cubicBezTo>
                    <a:pt x="47" y="10"/>
                    <a:pt x="45" y="8"/>
                    <a:pt x="45" y="5"/>
                  </a:cubicBezTo>
                  <a:cubicBezTo>
                    <a:pt x="45" y="3"/>
                    <a:pt x="47" y="0"/>
                    <a:pt x="50" y="0"/>
                  </a:cubicBezTo>
                  <a:close/>
                  <a:moveTo>
                    <a:pt x="52" y="10"/>
                  </a:moveTo>
                  <a:cubicBezTo>
                    <a:pt x="118" y="10"/>
                    <a:pt x="118" y="10"/>
                    <a:pt x="118" y="10"/>
                  </a:cubicBezTo>
                  <a:cubicBezTo>
                    <a:pt x="159" y="52"/>
                    <a:pt x="159" y="52"/>
                    <a:pt x="159" y="52"/>
                  </a:cubicBezTo>
                  <a:cubicBezTo>
                    <a:pt x="155" y="116"/>
                    <a:pt x="155" y="116"/>
                    <a:pt x="155" y="116"/>
                  </a:cubicBezTo>
                  <a:cubicBezTo>
                    <a:pt x="93" y="125"/>
                    <a:pt x="93" y="125"/>
                    <a:pt x="93" y="125"/>
                  </a:cubicBezTo>
                  <a:cubicBezTo>
                    <a:pt x="55" y="158"/>
                    <a:pt x="55" y="158"/>
                    <a:pt x="55" y="158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0" y="52"/>
                    <a:pt x="10" y="52"/>
                    <a:pt x="10" y="52"/>
                  </a:cubicBezTo>
                  <a:lnTo>
                    <a:pt x="52" y="10"/>
                  </a:lnTo>
                  <a:close/>
                  <a:moveTo>
                    <a:pt x="0" y="50"/>
                  </a:moveTo>
                  <a:cubicBezTo>
                    <a:pt x="0" y="47"/>
                    <a:pt x="3" y="45"/>
                    <a:pt x="5" y="45"/>
                  </a:cubicBezTo>
                  <a:cubicBezTo>
                    <a:pt x="8" y="45"/>
                    <a:pt x="10" y="47"/>
                    <a:pt x="10" y="50"/>
                  </a:cubicBezTo>
                  <a:cubicBezTo>
                    <a:pt x="10" y="53"/>
                    <a:pt x="8" y="55"/>
                    <a:pt x="5" y="55"/>
                  </a:cubicBezTo>
                  <a:cubicBezTo>
                    <a:pt x="3" y="55"/>
                    <a:pt x="0" y="53"/>
                    <a:pt x="0" y="50"/>
                  </a:cubicBezTo>
                  <a:close/>
                  <a:moveTo>
                    <a:pt x="10" y="125"/>
                  </a:moveTo>
                  <a:cubicBezTo>
                    <a:pt x="8" y="125"/>
                    <a:pt x="5" y="123"/>
                    <a:pt x="5" y="120"/>
                  </a:cubicBezTo>
                  <a:cubicBezTo>
                    <a:pt x="5" y="117"/>
                    <a:pt x="8" y="115"/>
                    <a:pt x="10" y="115"/>
                  </a:cubicBezTo>
                  <a:cubicBezTo>
                    <a:pt x="13" y="115"/>
                    <a:pt x="15" y="117"/>
                    <a:pt x="15" y="120"/>
                  </a:cubicBezTo>
                  <a:cubicBezTo>
                    <a:pt x="15" y="123"/>
                    <a:pt x="13" y="125"/>
                    <a:pt x="10" y="125"/>
                  </a:cubicBezTo>
                  <a:close/>
                  <a:moveTo>
                    <a:pt x="55" y="170"/>
                  </a:moveTo>
                  <a:cubicBezTo>
                    <a:pt x="52" y="170"/>
                    <a:pt x="50" y="167"/>
                    <a:pt x="50" y="165"/>
                  </a:cubicBezTo>
                  <a:cubicBezTo>
                    <a:pt x="50" y="162"/>
                    <a:pt x="52" y="160"/>
                    <a:pt x="55" y="160"/>
                  </a:cubicBezTo>
                  <a:cubicBezTo>
                    <a:pt x="58" y="160"/>
                    <a:pt x="60" y="162"/>
                    <a:pt x="60" y="165"/>
                  </a:cubicBezTo>
                  <a:cubicBezTo>
                    <a:pt x="60" y="167"/>
                    <a:pt x="58" y="170"/>
                    <a:pt x="55" y="170"/>
                  </a:cubicBezTo>
                  <a:close/>
                  <a:moveTo>
                    <a:pt x="95" y="135"/>
                  </a:moveTo>
                  <a:cubicBezTo>
                    <a:pt x="92" y="135"/>
                    <a:pt x="90" y="133"/>
                    <a:pt x="90" y="130"/>
                  </a:cubicBezTo>
                  <a:cubicBezTo>
                    <a:pt x="90" y="127"/>
                    <a:pt x="92" y="125"/>
                    <a:pt x="95" y="125"/>
                  </a:cubicBezTo>
                  <a:cubicBezTo>
                    <a:pt x="98" y="125"/>
                    <a:pt x="100" y="127"/>
                    <a:pt x="100" y="130"/>
                  </a:cubicBezTo>
                  <a:cubicBezTo>
                    <a:pt x="100" y="133"/>
                    <a:pt x="98" y="135"/>
                    <a:pt x="95" y="135"/>
                  </a:cubicBezTo>
                  <a:close/>
                  <a:moveTo>
                    <a:pt x="160" y="125"/>
                  </a:moveTo>
                  <a:cubicBezTo>
                    <a:pt x="157" y="125"/>
                    <a:pt x="155" y="123"/>
                    <a:pt x="155" y="120"/>
                  </a:cubicBezTo>
                  <a:cubicBezTo>
                    <a:pt x="155" y="117"/>
                    <a:pt x="157" y="115"/>
                    <a:pt x="160" y="115"/>
                  </a:cubicBezTo>
                  <a:cubicBezTo>
                    <a:pt x="162" y="115"/>
                    <a:pt x="165" y="117"/>
                    <a:pt x="165" y="120"/>
                  </a:cubicBezTo>
                  <a:cubicBezTo>
                    <a:pt x="165" y="123"/>
                    <a:pt x="162" y="125"/>
                    <a:pt x="160" y="125"/>
                  </a:cubicBezTo>
                  <a:close/>
                  <a:moveTo>
                    <a:pt x="165" y="55"/>
                  </a:moveTo>
                  <a:cubicBezTo>
                    <a:pt x="162" y="55"/>
                    <a:pt x="160" y="53"/>
                    <a:pt x="160" y="50"/>
                  </a:cubicBezTo>
                  <a:cubicBezTo>
                    <a:pt x="160" y="47"/>
                    <a:pt x="162" y="45"/>
                    <a:pt x="165" y="45"/>
                  </a:cubicBezTo>
                  <a:cubicBezTo>
                    <a:pt x="167" y="45"/>
                    <a:pt x="170" y="47"/>
                    <a:pt x="170" y="50"/>
                  </a:cubicBezTo>
                  <a:cubicBezTo>
                    <a:pt x="170" y="53"/>
                    <a:pt x="167" y="55"/>
                    <a:pt x="165" y="55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C6D7CA4B-D7EB-EDD4-8024-A48FE31142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93" y="2912"/>
              <a:ext cx="376" cy="371"/>
            </a:xfrm>
            <a:custGeom>
              <a:avLst/>
              <a:gdLst>
                <a:gd name="T0" fmla="*/ 147 w 156"/>
                <a:gd name="T1" fmla="*/ 113 h 154"/>
                <a:gd name="T2" fmla="*/ 150 w 156"/>
                <a:gd name="T3" fmla="*/ 108 h 154"/>
                <a:gd name="T4" fmla="*/ 126 w 156"/>
                <a:gd name="T5" fmla="*/ 82 h 154"/>
                <a:gd name="T6" fmla="*/ 156 w 156"/>
                <a:gd name="T7" fmla="*/ 48 h 154"/>
                <a:gd name="T8" fmla="*/ 152 w 156"/>
                <a:gd name="T9" fmla="*/ 45 h 154"/>
                <a:gd name="T10" fmla="*/ 122 w 156"/>
                <a:gd name="T11" fmla="*/ 79 h 154"/>
                <a:gd name="T12" fmla="*/ 80 w 156"/>
                <a:gd name="T13" fmla="*/ 35 h 154"/>
                <a:gd name="T14" fmla="*/ 111 w 156"/>
                <a:gd name="T15" fmla="*/ 3 h 154"/>
                <a:gd name="T16" fmla="*/ 107 w 156"/>
                <a:gd name="T17" fmla="*/ 0 h 154"/>
                <a:gd name="T18" fmla="*/ 77 w 156"/>
                <a:gd name="T19" fmla="*/ 31 h 154"/>
                <a:gd name="T20" fmla="*/ 47 w 156"/>
                <a:gd name="T21" fmla="*/ 0 h 154"/>
                <a:gd name="T22" fmla="*/ 42 w 156"/>
                <a:gd name="T23" fmla="*/ 3 h 154"/>
                <a:gd name="T24" fmla="*/ 40 w 156"/>
                <a:gd name="T25" fmla="*/ 3 h 154"/>
                <a:gd name="T26" fmla="*/ 42 w 156"/>
                <a:gd name="T27" fmla="*/ 60 h 154"/>
                <a:gd name="T28" fmla="*/ 2 w 156"/>
                <a:gd name="T29" fmla="*/ 43 h 154"/>
                <a:gd name="T30" fmla="*/ 2 w 156"/>
                <a:gd name="T31" fmla="*/ 43 h 154"/>
                <a:gd name="T32" fmla="*/ 0 w 156"/>
                <a:gd name="T33" fmla="*/ 47 h 154"/>
                <a:gd name="T34" fmla="*/ 42 w 156"/>
                <a:gd name="T35" fmla="*/ 66 h 154"/>
                <a:gd name="T36" fmla="*/ 42 w 156"/>
                <a:gd name="T37" fmla="*/ 68 h 154"/>
                <a:gd name="T38" fmla="*/ 3 w 156"/>
                <a:gd name="T39" fmla="*/ 108 h 154"/>
                <a:gd name="T40" fmla="*/ 7 w 156"/>
                <a:gd name="T41" fmla="*/ 113 h 154"/>
                <a:gd name="T42" fmla="*/ 6 w 156"/>
                <a:gd name="T43" fmla="*/ 116 h 154"/>
                <a:gd name="T44" fmla="*/ 43 w 156"/>
                <a:gd name="T45" fmla="*/ 120 h 154"/>
                <a:gd name="T46" fmla="*/ 44 w 156"/>
                <a:gd name="T47" fmla="*/ 154 h 154"/>
                <a:gd name="T48" fmla="*/ 47 w 156"/>
                <a:gd name="T49" fmla="*/ 153 h 154"/>
                <a:gd name="T50" fmla="*/ 49 w 156"/>
                <a:gd name="T51" fmla="*/ 153 h 154"/>
                <a:gd name="T52" fmla="*/ 48 w 156"/>
                <a:gd name="T53" fmla="*/ 121 h 154"/>
                <a:gd name="T54" fmla="*/ 82 w 156"/>
                <a:gd name="T55" fmla="*/ 125 h 154"/>
                <a:gd name="T56" fmla="*/ 82 w 156"/>
                <a:gd name="T57" fmla="*/ 123 h 154"/>
                <a:gd name="T58" fmla="*/ 83 w 156"/>
                <a:gd name="T59" fmla="*/ 120 h 154"/>
                <a:gd name="T60" fmla="*/ 48 w 156"/>
                <a:gd name="T61" fmla="*/ 116 h 154"/>
                <a:gd name="T62" fmla="*/ 47 w 156"/>
                <a:gd name="T63" fmla="*/ 70 h 154"/>
                <a:gd name="T64" fmla="*/ 48 w 156"/>
                <a:gd name="T65" fmla="*/ 69 h 154"/>
                <a:gd name="T66" fmla="*/ 107 w 156"/>
                <a:gd name="T67" fmla="*/ 96 h 154"/>
                <a:gd name="T68" fmla="*/ 88 w 156"/>
                <a:gd name="T69" fmla="*/ 118 h 154"/>
                <a:gd name="T70" fmla="*/ 92 w 156"/>
                <a:gd name="T71" fmla="*/ 121 h 154"/>
                <a:gd name="T72" fmla="*/ 112 w 156"/>
                <a:gd name="T73" fmla="*/ 98 h 154"/>
                <a:gd name="T74" fmla="*/ 147 w 156"/>
                <a:gd name="T75" fmla="*/ 113 h 154"/>
                <a:gd name="T76" fmla="*/ 147 w 156"/>
                <a:gd name="T77" fmla="*/ 113 h 154"/>
                <a:gd name="T78" fmla="*/ 8 w 156"/>
                <a:gd name="T79" fmla="*/ 111 h 154"/>
                <a:gd name="T80" fmla="*/ 42 w 156"/>
                <a:gd name="T81" fmla="*/ 75 h 154"/>
                <a:gd name="T82" fmla="*/ 43 w 156"/>
                <a:gd name="T83" fmla="*/ 115 h 154"/>
                <a:gd name="T84" fmla="*/ 8 w 156"/>
                <a:gd name="T85" fmla="*/ 111 h 154"/>
                <a:gd name="T86" fmla="*/ 47 w 156"/>
                <a:gd name="T87" fmla="*/ 63 h 154"/>
                <a:gd name="T88" fmla="*/ 47 w 156"/>
                <a:gd name="T89" fmla="*/ 63 h 154"/>
                <a:gd name="T90" fmla="*/ 45 w 156"/>
                <a:gd name="T91" fmla="*/ 5 h 154"/>
                <a:gd name="T92" fmla="*/ 73 w 156"/>
                <a:gd name="T93" fmla="*/ 35 h 154"/>
                <a:gd name="T94" fmla="*/ 47 w 156"/>
                <a:gd name="T95" fmla="*/ 63 h 154"/>
                <a:gd name="T96" fmla="*/ 111 w 156"/>
                <a:gd name="T97" fmla="*/ 92 h 154"/>
                <a:gd name="T98" fmla="*/ 52 w 156"/>
                <a:gd name="T99" fmla="*/ 65 h 154"/>
                <a:gd name="T100" fmla="*/ 77 w 156"/>
                <a:gd name="T101" fmla="*/ 38 h 154"/>
                <a:gd name="T102" fmla="*/ 119 w 156"/>
                <a:gd name="T103" fmla="*/ 82 h 154"/>
                <a:gd name="T104" fmla="*/ 111 w 156"/>
                <a:gd name="T105" fmla="*/ 92 h 154"/>
                <a:gd name="T106" fmla="*/ 116 w 156"/>
                <a:gd name="T107" fmla="*/ 94 h 154"/>
                <a:gd name="T108" fmla="*/ 122 w 156"/>
                <a:gd name="T109" fmla="*/ 86 h 154"/>
                <a:gd name="T110" fmla="*/ 141 w 156"/>
                <a:gd name="T111" fmla="*/ 105 h 154"/>
                <a:gd name="T112" fmla="*/ 116 w 156"/>
                <a:gd name="T113" fmla="*/ 9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6" h="154">
                  <a:moveTo>
                    <a:pt x="147" y="113"/>
                  </a:moveTo>
                  <a:cubicBezTo>
                    <a:pt x="147" y="111"/>
                    <a:pt x="148" y="109"/>
                    <a:pt x="150" y="108"/>
                  </a:cubicBezTo>
                  <a:cubicBezTo>
                    <a:pt x="126" y="82"/>
                    <a:pt x="126" y="82"/>
                    <a:pt x="126" y="82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8"/>
                    <a:pt x="152" y="46"/>
                    <a:pt x="152" y="45"/>
                  </a:cubicBezTo>
                  <a:cubicBezTo>
                    <a:pt x="122" y="79"/>
                    <a:pt x="122" y="79"/>
                    <a:pt x="122" y="79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111" y="3"/>
                    <a:pt x="111" y="3"/>
                    <a:pt x="111" y="3"/>
                  </a:cubicBezTo>
                  <a:cubicBezTo>
                    <a:pt x="109" y="3"/>
                    <a:pt x="108" y="1"/>
                    <a:pt x="107" y="0"/>
                  </a:cubicBezTo>
                  <a:cubicBezTo>
                    <a:pt x="77" y="31"/>
                    <a:pt x="77" y="31"/>
                    <a:pt x="77" y="31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6" y="2"/>
                    <a:pt x="44" y="3"/>
                    <a:pt x="42" y="3"/>
                  </a:cubicBezTo>
                  <a:cubicBezTo>
                    <a:pt x="41" y="3"/>
                    <a:pt x="40" y="3"/>
                    <a:pt x="40" y="3"/>
                  </a:cubicBezTo>
                  <a:cubicBezTo>
                    <a:pt x="42" y="60"/>
                    <a:pt x="42" y="60"/>
                    <a:pt x="42" y="60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5"/>
                    <a:pt x="1" y="46"/>
                    <a:pt x="0" y="47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2" y="68"/>
                    <a:pt x="42" y="68"/>
                    <a:pt x="42" y="68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6" y="109"/>
                    <a:pt x="7" y="111"/>
                    <a:pt x="7" y="113"/>
                  </a:cubicBezTo>
                  <a:cubicBezTo>
                    <a:pt x="7" y="114"/>
                    <a:pt x="7" y="115"/>
                    <a:pt x="6" y="116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4" y="154"/>
                    <a:pt x="44" y="154"/>
                    <a:pt x="44" y="154"/>
                  </a:cubicBezTo>
                  <a:cubicBezTo>
                    <a:pt x="45" y="153"/>
                    <a:pt x="46" y="153"/>
                    <a:pt x="47" y="153"/>
                  </a:cubicBezTo>
                  <a:cubicBezTo>
                    <a:pt x="48" y="153"/>
                    <a:pt x="49" y="153"/>
                    <a:pt x="49" y="153"/>
                  </a:cubicBezTo>
                  <a:cubicBezTo>
                    <a:pt x="48" y="121"/>
                    <a:pt x="48" y="121"/>
                    <a:pt x="48" y="121"/>
                  </a:cubicBezTo>
                  <a:cubicBezTo>
                    <a:pt x="82" y="125"/>
                    <a:pt x="82" y="125"/>
                    <a:pt x="82" y="125"/>
                  </a:cubicBezTo>
                  <a:cubicBezTo>
                    <a:pt x="82" y="124"/>
                    <a:pt x="82" y="124"/>
                    <a:pt x="82" y="123"/>
                  </a:cubicBezTo>
                  <a:cubicBezTo>
                    <a:pt x="82" y="122"/>
                    <a:pt x="82" y="121"/>
                    <a:pt x="83" y="120"/>
                  </a:cubicBezTo>
                  <a:cubicBezTo>
                    <a:pt x="48" y="116"/>
                    <a:pt x="48" y="116"/>
                    <a:pt x="48" y="116"/>
                  </a:cubicBezTo>
                  <a:cubicBezTo>
                    <a:pt x="47" y="70"/>
                    <a:pt x="47" y="70"/>
                    <a:pt x="47" y="70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107" y="96"/>
                    <a:pt x="107" y="96"/>
                    <a:pt x="107" y="96"/>
                  </a:cubicBezTo>
                  <a:cubicBezTo>
                    <a:pt x="88" y="118"/>
                    <a:pt x="88" y="118"/>
                    <a:pt x="88" y="118"/>
                  </a:cubicBezTo>
                  <a:cubicBezTo>
                    <a:pt x="90" y="118"/>
                    <a:pt x="91" y="120"/>
                    <a:pt x="92" y="121"/>
                  </a:cubicBezTo>
                  <a:cubicBezTo>
                    <a:pt x="112" y="98"/>
                    <a:pt x="112" y="98"/>
                    <a:pt x="112" y="98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7" y="113"/>
                    <a:pt x="147" y="113"/>
                    <a:pt x="147" y="113"/>
                  </a:cubicBezTo>
                  <a:close/>
                  <a:moveTo>
                    <a:pt x="8" y="111"/>
                  </a:moveTo>
                  <a:cubicBezTo>
                    <a:pt x="42" y="75"/>
                    <a:pt x="42" y="75"/>
                    <a:pt x="42" y="75"/>
                  </a:cubicBezTo>
                  <a:cubicBezTo>
                    <a:pt x="43" y="115"/>
                    <a:pt x="43" y="115"/>
                    <a:pt x="43" y="115"/>
                  </a:cubicBezTo>
                  <a:lnTo>
                    <a:pt x="8" y="111"/>
                  </a:lnTo>
                  <a:close/>
                  <a:moveTo>
                    <a:pt x="47" y="63"/>
                  </a:moveTo>
                  <a:cubicBezTo>
                    <a:pt x="47" y="63"/>
                    <a:pt x="47" y="63"/>
                    <a:pt x="47" y="63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73" y="35"/>
                    <a:pt x="73" y="35"/>
                    <a:pt x="73" y="35"/>
                  </a:cubicBezTo>
                  <a:lnTo>
                    <a:pt x="47" y="63"/>
                  </a:lnTo>
                  <a:close/>
                  <a:moveTo>
                    <a:pt x="111" y="92"/>
                  </a:moveTo>
                  <a:cubicBezTo>
                    <a:pt x="52" y="65"/>
                    <a:pt x="52" y="65"/>
                    <a:pt x="52" y="65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119" y="82"/>
                    <a:pt x="119" y="82"/>
                    <a:pt x="119" y="82"/>
                  </a:cubicBezTo>
                  <a:lnTo>
                    <a:pt x="111" y="92"/>
                  </a:lnTo>
                  <a:close/>
                  <a:moveTo>
                    <a:pt x="116" y="94"/>
                  </a:moveTo>
                  <a:cubicBezTo>
                    <a:pt x="122" y="86"/>
                    <a:pt x="122" y="86"/>
                    <a:pt x="122" y="86"/>
                  </a:cubicBezTo>
                  <a:cubicBezTo>
                    <a:pt x="141" y="105"/>
                    <a:pt x="141" y="105"/>
                    <a:pt x="141" y="105"/>
                  </a:cubicBezTo>
                  <a:lnTo>
                    <a:pt x="116" y="94"/>
                  </a:lnTo>
                  <a:close/>
                </a:path>
              </a:pathLst>
            </a:custGeom>
            <a:solidFill>
              <a:srgbClr val="C14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3A15714-6B9B-DF40-10EB-1EB2265827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62" y="2883"/>
              <a:ext cx="434" cy="434"/>
            </a:xfrm>
            <a:custGeom>
              <a:avLst/>
              <a:gdLst>
                <a:gd name="T0" fmla="*/ 15 w 180"/>
                <a:gd name="T1" fmla="*/ 55 h 180"/>
                <a:gd name="T2" fmla="*/ 5 w 180"/>
                <a:gd name="T3" fmla="*/ 55 h 180"/>
                <a:gd name="T4" fmla="*/ 10 w 180"/>
                <a:gd name="T5" fmla="*/ 45 h 180"/>
                <a:gd name="T6" fmla="*/ 10 w 180"/>
                <a:gd name="T7" fmla="*/ 65 h 180"/>
                <a:gd name="T8" fmla="*/ 10 w 180"/>
                <a:gd name="T9" fmla="*/ 45 h 180"/>
                <a:gd name="T10" fmla="*/ 60 w 180"/>
                <a:gd name="T11" fmla="*/ 10 h 180"/>
                <a:gd name="T12" fmla="*/ 50 w 180"/>
                <a:gd name="T13" fmla="*/ 10 h 180"/>
                <a:gd name="T14" fmla="*/ 55 w 180"/>
                <a:gd name="T15" fmla="*/ 0 h 180"/>
                <a:gd name="T16" fmla="*/ 55 w 180"/>
                <a:gd name="T17" fmla="*/ 20 h 180"/>
                <a:gd name="T18" fmla="*/ 55 w 180"/>
                <a:gd name="T19" fmla="*/ 0 h 180"/>
                <a:gd name="T20" fmla="*/ 130 w 180"/>
                <a:gd name="T21" fmla="*/ 10 h 180"/>
                <a:gd name="T22" fmla="*/ 120 w 180"/>
                <a:gd name="T23" fmla="*/ 10 h 180"/>
                <a:gd name="T24" fmla="*/ 125 w 180"/>
                <a:gd name="T25" fmla="*/ 0 h 180"/>
                <a:gd name="T26" fmla="*/ 125 w 180"/>
                <a:gd name="T27" fmla="*/ 20 h 180"/>
                <a:gd name="T28" fmla="*/ 125 w 180"/>
                <a:gd name="T29" fmla="*/ 0 h 180"/>
                <a:gd name="T30" fmla="*/ 175 w 180"/>
                <a:gd name="T31" fmla="*/ 55 h 180"/>
                <a:gd name="T32" fmla="*/ 165 w 180"/>
                <a:gd name="T33" fmla="*/ 55 h 180"/>
                <a:gd name="T34" fmla="*/ 170 w 180"/>
                <a:gd name="T35" fmla="*/ 45 h 180"/>
                <a:gd name="T36" fmla="*/ 170 w 180"/>
                <a:gd name="T37" fmla="*/ 65 h 180"/>
                <a:gd name="T38" fmla="*/ 170 w 180"/>
                <a:gd name="T39" fmla="*/ 45 h 180"/>
                <a:gd name="T40" fmla="*/ 170 w 180"/>
                <a:gd name="T41" fmla="*/ 125 h 180"/>
                <a:gd name="T42" fmla="*/ 160 w 180"/>
                <a:gd name="T43" fmla="*/ 125 h 180"/>
                <a:gd name="T44" fmla="*/ 165 w 180"/>
                <a:gd name="T45" fmla="*/ 115 h 180"/>
                <a:gd name="T46" fmla="*/ 165 w 180"/>
                <a:gd name="T47" fmla="*/ 135 h 180"/>
                <a:gd name="T48" fmla="*/ 165 w 180"/>
                <a:gd name="T49" fmla="*/ 115 h 180"/>
                <a:gd name="T50" fmla="*/ 105 w 180"/>
                <a:gd name="T51" fmla="*/ 135 h 180"/>
                <a:gd name="T52" fmla="*/ 95 w 180"/>
                <a:gd name="T53" fmla="*/ 135 h 180"/>
                <a:gd name="T54" fmla="*/ 100 w 180"/>
                <a:gd name="T55" fmla="*/ 125 h 180"/>
                <a:gd name="T56" fmla="*/ 100 w 180"/>
                <a:gd name="T57" fmla="*/ 145 h 180"/>
                <a:gd name="T58" fmla="*/ 100 w 180"/>
                <a:gd name="T59" fmla="*/ 125 h 180"/>
                <a:gd name="T60" fmla="*/ 65 w 180"/>
                <a:gd name="T61" fmla="*/ 170 h 180"/>
                <a:gd name="T62" fmla="*/ 55 w 180"/>
                <a:gd name="T63" fmla="*/ 170 h 180"/>
                <a:gd name="T64" fmla="*/ 60 w 180"/>
                <a:gd name="T65" fmla="*/ 160 h 180"/>
                <a:gd name="T66" fmla="*/ 60 w 180"/>
                <a:gd name="T67" fmla="*/ 180 h 180"/>
                <a:gd name="T68" fmla="*/ 60 w 180"/>
                <a:gd name="T69" fmla="*/ 160 h 180"/>
                <a:gd name="T70" fmla="*/ 20 w 180"/>
                <a:gd name="T71" fmla="*/ 125 h 180"/>
                <a:gd name="T72" fmla="*/ 10 w 180"/>
                <a:gd name="T73" fmla="*/ 125 h 180"/>
                <a:gd name="T74" fmla="*/ 15 w 180"/>
                <a:gd name="T75" fmla="*/ 115 h 180"/>
                <a:gd name="T76" fmla="*/ 15 w 180"/>
                <a:gd name="T77" fmla="*/ 135 h 180"/>
                <a:gd name="T78" fmla="*/ 15 w 180"/>
                <a:gd name="T79" fmla="*/ 115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0" h="180">
                  <a:moveTo>
                    <a:pt x="10" y="50"/>
                  </a:moveTo>
                  <a:cubicBezTo>
                    <a:pt x="13" y="50"/>
                    <a:pt x="15" y="52"/>
                    <a:pt x="15" y="55"/>
                  </a:cubicBezTo>
                  <a:cubicBezTo>
                    <a:pt x="15" y="58"/>
                    <a:pt x="13" y="60"/>
                    <a:pt x="10" y="60"/>
                  </a:cubicBezTo>
                  <a:cubicBezTo>
                    <a:pt x="8" y="60"/>
                    <a:pt x="5" y="58"/>
                    <a:pt x="5" y="55"/>
                  </a:cubicBezTo>
                  <a:cubicBezTo>
                    <a:pt x="5" y="52"/>
                    <a:pt x="8" y="50"/>
                    <a:pt x="10" y="50"/>
                  </a:cubicBezTo>
                  <a:moveTo>
                    <a:pt x="10" y="45"/>
                  </a:moveTo>
                  <a:cubicBezTo>
                    <a:pt x="5" y="45"/>
                    <a:pt x="0" y="50"/>
                    <a:pt x="0" y="55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6" y="65"/>
                    <a:pt x="20" y="61"/>
                    <a:pt x="20" y="55"/>
                  </a:cubicBezTo>
                  <a:cubicBezTo>
                    <a:pt x="20" y="50"/>
                    <a:pt x="16" y="45"/>
                    <a:pt x="10" y="45"/>
                  </a:cubicBezTo>
                  <a:close/>
                  <a:moveTo>
                    <a:pt x="55" y="5"/>
                  </a:moveTo>
                  <a:cubicBezTo>
                    <a:pt x="58" y="5"/>
                    <a:pt x="60" y="8"/>
                    <a:pt x="60" y="10"/>
                  </a:cubicBezTo>
                  <a:cubicBezTo>
                    <a:pt x="60" y="13"/>
                    <a:pt x="58" y="15"/>
                    <a:pt x="55" y="15"/>
                  </a:cubicBezTo>
                  <a:cubicBezTo>
                    <a:pt x="52" y="15"/>
                    <a:pt x="50" y="13"/>
                    <a:pt x="50" y="10"/>
                  </a:cubicBezTo>
                  <a:cubicBezTo>
                    <a:pt x="50" y="8"/>
                    <a:pt x="52" y="5"/>
                    <a:pt x="55" y="5"/>
                  </a:cubicBezTo>
                  <a:moveTo>
                    <a:pt x="55" y="0"/>
                  </a:moveTo>
                  <a:cubicBezTo>
                    <a:pt x="50" y="0"/>
                    <a:pt x="45" y="5"/>
                    <a:pt x="45" y="10"/>
                  </a:cubicBezTo>
                  <a:cubicBezTo>
                    <a:pt x="45" y="16"/>
                    <a:pt x="50" y="20"/>
                    <a:pt x="55" y="20"/>
                  </a:cubicBezTo>
                  <a:cubicBezTo>
                    <a:pt x="61" y="20"/>
                    <a:pt x="65" y="16"/>
                    <a:pt x="65" y="10"/>
                  </a:cubicBezTo>
                  <a:cubicBezTo>
                    <a:pt x="65" y="5"/>
                    <a:pt x="61" y="0"/>
                    <a:pt x="55" y="0"/>
                  </a:cubicBezTo>
                  <a:close/>
                  <a:moveTo>
                    <a:pt x="125" y="5"/>
                  </a:moveTo>
                  <a:cubicBezTo>
                    <a:pt x="128" y="5"/>
                    <a:pt x="130" y="8"/>
                    <a:pt x="130" y="10"/>
                  </a:cubicBezTo>
                  <a:cubicBezTo>
                    <a:pt x="130" y="13"/>
                    <a:pt x="128" y="15"/>
                    <a:pt x="125" y="15"/>
                  </a:cubicBezTo>
                  <a:cubicBezTo>
                    <a:pt x="122" y="15"/>
                    <a:pt x="120" y="13"/>
                    <a:pt x="120" y="10"/>
                  </a:cubicBezTo>
                  <a:cubicBezTo>
                    <a:pt x="120" y="8"/>
                    <a:pt x="122" y="5"/>
                    <a:pt x="125" y="5"/>
                  </a:cubicBezTo>
                  <a:moveTo>
                    <a:pt x="125" y="0"/>
                  </a:moveTo>
                  <a:cubicBezTo>
                    <a:pt x="119" y="0"/>
                    <a:pt x="115" y="5"/>
                    <a:pt x="115" y="10"/>
                  </a:cubicBezTo>
                  <a:cubicBezTo>
                    <a:pt x="115" y="16"/>
                    <a:pt x="119" y="20"/>
                    <a:pt x="125" y="20"/>
                  </a:cubicBezTo>
                  <a:cubicBezTo>
                    <a:pt x="130" y="20"/>
                    <a:pt x="135" y="16"/>
                    <a:pt x="135" y="10"/>
                  </a:cubicBezTo>
                  <a:cubicBezTo>
                    <a:pt x="135" y="5"/>
                    <a:pt x="130" y="0"/>
                    <a:pt x="125" y="0"/>
                  </a:cubicBezTo>
                  <a:close/>
                  <a:moveTo>
                    <a:pt x="170" y="50"/>
                  </a:moveTo>
                  <a:cubicBezTo>
                    <a:pt x="172" y="50"/>
                    <a:pt x="175" y="52"/>
                    <a:pt x="175" y="55"/>
                  </a:cubicBezTo>
                  <a:cubicBezTo>
                    <a:pt x="175" y="58"/>
                    <a:pt x="172" y="60"/>
                    <a:pt x="170" y="60"/>
                  </a:cubicBezTo>
                  <a:cubicBezTo>
                    <a:pt x="167" y="60"/>
                    <a:pt x="165" y="58"/>
                    <a:pt x="165" y="55"/>
                  </a:cubicBezTo>
                  <a:cubicBezTo>
                    <a:pt x="165" y="52"/>
                    <a:pt x="167" y="50"/>
                    <a:pt x="170" y="50"/>
                  </a:cubicBezTo>
                  <a:moveTo>
                    <a:pt x="170" y="45"/>
                  </a:moveTo>
                  <a:cubicBezTo>
                    <a:pt x="164" y="45"/>
                    <a:pt x="160" y="50"/>
                    <a:pt x="160" y="55"/>
                  </a:cubicBezTo>
                  <a:cubicBezTo>
                    <a:pt x="160" y="61"/>
                    <a:pt x="164" y="65"/>
                    <a:pt x="170" y="65"/>
                  </a:cubicBezTo>
                  <a:cubicBezTo>
                    <a:pt x="175" y="65"/>
                    <a:pt x="180" y="61"/>
                    <a:pt x="180" y="55"/>
                  </a:cubicBezTo>
                  <a:cubicBezTo>
                    <a:pt x="180" y="50"/>
                    <a:pt x="175" y="45"/>
                    <a:pt x="170" y="45"/>
                  </a:cubicBezTo>
                  <a:close/>
                  <a:moveTo>
                    <a:pt x="165" y="120"/>
                  </a:moveTo>
                  <a:cubicBezTo>
                    <a:pt x="167" y="120"/>
                    <a:pt x="170" y="122"/>
                    <a:pt x="170" y="125"/>
                  </a:cubicBezTo>
                  <a:cubicBezTo>
                    <a:pt x="170" y="128"/>
                    <a:pt x="167" y="130"/>
                    <a:pt x="165" y="130"/>
                  </a:cubicBezTo>
                  <a:cubicBezTo>
                    <a:pt x="162" y="130"/>
                    <a:pt x="160" y="128"/>
                    <a:pt x="160" y="125"/>
                  </a:cubicBezTo>
                  <a:cubicBezTo>
                    <a:pt x="160" y="122"/>
                    <a:pt x="162" y="120"/>
                    <a:pt x="165" y="120"/>
                  </a:cubicBezTo>
                  <a:moveTo>
                    <a:pt x="165" y="115"/>
                  </a:moveTo>
                  <a:cubicBezTo>
                    <a:pt x="159" y="115"/>
                    <a:pt x="155" y="119"/>
                    <a:pt x="155" y="125"/>
                  </a:cubicBezTo>
                  <a:cubicBezTo>
                    <a:pt x="155" y="130"/>
                    <a:pt x="159" y="135"/>
                    <a:pt x="165" y="135"/>
                  </a:cubicBezTo>
                  <a:cubicBezTo>
                    <a:pt x="170" y="135"/>
                    <a:pt x="175" y="130"/>
                    <a:pt x="175" y="125"/>
                  </a:cubicBezTo>
                  <a:cubicBezTo>
                    <a:pt x="175" y="119"/>
                    <a:pt x="170" y="115"/>
                    <a:pt x="165" y="115"/>
                  </a:cubicBezTo>
                  <a:close/>
                  <a:moveTo>
                    <a:pt x="100" y="130"/>
                  </a:moveTo>
                  <a:cubicBezTo>
                    <a:pt x="103" y="130"/>
                    <a:pt x="105" y="132"/>
                    <a:pt x="105" y="135"/>
                  </a:cubicBezTo>
                  <a:cubicBezTo>
                    <a:pt x="105" y="138"/>
                    <a:pt x="103" y="140"/>
                    <a:pt x="100" y="140"/>
                  </a:cubicBezTo>
                  <a:cubicBezTo>
                    <a:pt x="97" y="140"/>
                    <a:pt x="95" y="138"/>
                    <a:pt x="95" y="135"/>
                  </a:cubicBezTo>
                  <a:cubicBezTo>
                    <a:pt x="95" y="132"/>
                    <a:pt x="97" y="130"/>
                    <a:pt x="100" y="130"/>
                  </a:cubicBezTo>
                  <a:moveTo>
                    <a:pt x="100" y="125"/>
                  </a:moveTo>
                  <a:cubicBezTo>
                    <a:pt x="94" y="125"/>
                    <a:pt x="90" y="129"/>
                    <a:pt x="90" y="135"/>
                  </a:cubicBezTo>
                  <a:cubicBezTo>
                    <a:pt x="90" y="140"/>
                    <a:pt x="94" y="145"/>
                    <a:pt x="100" y="145"/>
                  </a:cubicBezTo>
                  <a:cubicBezTo>
                    <a:pt x="105" y="145"/>
                    <a:pt x="110" y="140"/>
                    <a:pt x="110" y="135"/>
                  </a:cubicBezTo>
                  <a:cubicBezTo>
                    <a:pt x="110" y="129"/>
                    <a:pt x="105" y="125"/>
                    <a:pt x="100" y="125"/>
                  </a:cubicBezTo>
                  <a:close/>
                  <a:moveTo>
                    <a:pt x="60" y="165"/>
                  </a:moveTo>
                  <a:cubicBezTo>
                    <a:pt x="63" y="165"/>
                    <a:pt x="65" y="167"/>
                    <a:pt x="65" y="170"/>
                  </a:cubicBezTo>
                  <a:cubicBezTo>
                    <a:pt x="65" y="172"/>
                    <a:pt x="63" y="175"/>
                    <a:pt x="60" y="175"/>
                  </a:cubicBezTo>
                  <a:cubicBezTo>
                    <a:pt x="57" y="175"/>
                    <a:pt x="55" y="172"/>
                    <a:pt x="55" y="170"/>
                  </a:cubicBezTo>
                  <a:cubicBezTo>
                    <a:pt x="55" y="167"/>
                    <a:pt x="57" y="165"/>
                    <a:pt x="60" y="165"/>
                  </a:cubicBezTo>
                  <a:moveTo>
                    <a:pt x="60" y="160"/>
                  </a:moveTo>
                  <a:cubicBezTo>
                    <a:pt x="55" y="160"/>
                    <a:pt x="50" y="164"/>
                    <a:pt x="50" y="170"/>
                  </a:cubicBezTo>
                  <a:cubicBezTo>
                    <a:pt x="50" y="175"/>
                    <a:pt x="55" y="180"/>
                    <a:pt x="60" y="180"/>
                  </a:cubicBezTo>
                  <a:cubicBezTo>
                    <a:pt x="66" y="180"/>
                    <a:pt x="70" y="175"/>
                    <a:pt x="70" y="170"/>
                  </a:cubicBezTo>
                  <a:cubicBezTo>
                    <a:pt x="70" y="164"/>
                    <a:pt x="66" y="160"/>
                    <a:pt x="60" y="160"/>
                  </a:cubicBezTo>
                  <a:close/>
                  <a:moveTo>
                    <a:pt x="15" y="120"/>
                  </a:moveTo>
                  <a:cubicBezTo>
                    <a:pt x="18" y="120"/>
                    <a:pt x="20" y="122"/>
                    <a:pt x="20" y="125"/>
                  </a:cubicBezTo>
                  <a:cubicBezTo>
                    <a:pt x="20" y="128"/>
                    <a:pt x="18" y="130"/>
                    <a:pt x="15" y="130"/>
                  </a:cubicBezTo>
                  <a:cubicBezTo>
                    <a:pt x="13" y="130"/>
                    <a:pt x="10" y="128"/>
                    <a:pt x="10" y="125"/>
                  </a:cubicBezTo>
                  <a:cubicBezTo>
                    <a:pt x="10" y="122"/>
                    <a:pt x="13" y="120"/>
                    <a:pt x="15" y="120"/>
                  </a:cubicBezTo>
                  <a:moveTo>
                    <a:pt x="15" y="115"/>
                  </a:moveTo>
                  <a:cubicBezTo>
                    <a:pt x="10" y="115"/>
                    <a:pt x="5" y="119"/>
                    <a:pt x="5" y="125"/>
                  </a:cubicBezTo>
                  <a:cubicBezTo>
                    <a:pt x="5" y="130"/>
                    <a:pt x="10" y="135"/>
                    <a:pt x="15" y="135"/>
                  </a:cubicBezTo>
                  <a:cubicBezTo>
                    <a:pt x="21" y="135"/>
                    <a:pt x="25" y="130"/>
                    <a:pt x="25" y="125"/>
                  </a:cubicBezTo>
                  <a:cubicBezTo>
                    <a:pt x="25" y="119"/>
                    <a:pt x="21" y="115"/>
                    <a:pt x="15" y="115"/>
                  </a:cubicBezTo>
                  <a:close/>
                </a:path>
              </a:pathLst>
            </a:custGeom>
            <a:solidFill>
              <a:srgbClr val="C14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7E590471-564D-4BC7-3C54-5ABEBD25481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45" y="1925213"/>
            <a:ext cx="1362415" cy="381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B241C8C-DB02-CD17-CC3B-6B230E82B36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6212" y="1806274"/>
            <a:ext cx="1248672" cy="61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D0CDFF-A6EF-3EBA-2991-232177DD8A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CONFIDENTIAL | AUTHORIZED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9932-3081-D252-6838-532EAFE8B4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949DA1-F20F-4B10-072E-BD93BC81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Healthcare-AI</a:t>
            </a:r>
            <a:r>
              <a:rPr lang="en-CZ" dirty="0"/>
              <a:t>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09FB94-9015-6C68-8A4F-D85011450844}"/>
              </a:ext>
            </a:extLst>
          </p:cNvPr>
          <p:cNvSpPr/>
          <p:nvPr/>
        </p:nvSpPr>
        <p:spPr bwMode="ltGray">
          <a:xfrm>
            <a:off x="1051189" y="1504813"/>
            <a:ext cx="2219092" cy="3226216"/>
          </a:xfrm>
          <a:prstGeom prst="rect">
            <a:avLst/>
          </a:prstGeom>
          <a:solidFill>
            <a:schemeClr val="bg1"/>
          </a:solidFill>
          <a:ln w="19050">
            <a:solidFill>
              <a:srgbClr val="01A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dirty="0">
                <a:solidFill>
                  <a:schemeClr val="tx1"/>
                </a:solidFill>
              </a:rPr>
              <a:t>Speech-to-text transcription for both patients (problem description) and medical practitioners (dictate diagnosis)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468F62-2868-3A1D-DC31-616334806C27}"/>
              </a:ext>
            </a:extLst>
          </p:cNvPr>
          <p:cNvSpPr/>
          <p:nvPr/>
        </p:nvSpPr>
        <p:spPr bwMode="ltGray">
          <a:xfrm>
            <a:off x="3698489" y="1504813"/>
            <a:ext cx="2219092" cy="3226216"/>
          </a:xfrm>
          <a:prstGeom prst="rect">
            <a:avLst/>
          </a:prstGeom>
          <a:noFill/>
          <a:ln w="19050">
            <a:solidFill>
              <a:srgbClr val="01A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dirty="0">
                <a:solidFill>
                  <a:schemeClr val="tx1"/>
                </a:solidFill>
              </a:rPr>
              <a:t>Multi-lingual text-to-text translation service for just about any language to instantly remove language barrier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1C8DCE-A904-66EB-5BAE-76E105B0248A}"/>
              </a:ext>
            </a:extLst>
          </p:cNvPr>
          <p:cNvSpPr/>
          <p:nvPr/>
        </p:nvSpPr>
        <p:spPr bwMode="ltGray">
          <a:xfrm>
            <a:off x="6274669" y="1504813"/>
            <a:ext cx="2219092" cy="3226216"/>
          </a:xfrm>
          <a:prstGeom prst="rect">
            <a:avLst/>
          </a:prstGeom>
          <a:noFill/>
          <a:ln w="19050">
            <a:solidFill>
              <a:srgbClr val="01A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dirty="0">
                <a:solidFill>
                  <a:schemeClr val="tx1"/>
                </a:solidFill>
              </a:rPr>
              <a:t>Triage notes &amp; X-Ray submitted to medical reasoning model to perform 1st level diagnosis and treatment recommendation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E2679E-66CA-E047-0704-8481E1BE1E34}"/>
              </a:ext>
            </a:extLst>
          </p:cNvPr>
          <p:cNvSpPr/>
          <p:nvPr/>
        </p:nvSpPr>
        <p:spPr bwMode="ltGray">
          <a:xfrm>
            <a:off x="1051189" y="4951745"/>
            <a:ext cx="2219092" cy="401443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200" b="1" dirty="0">
                <a:solidFill>
                  <a:schemeClr val="tx1"/>
                </a:solidFill>
              </a:rPr>
              <a:t>Streamline manual processes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71B242-A1E9-C50D-7D73-84EEF8E5A0A5}"/>
              </a:ext>
            </a:extLst>
          </p:cNvPr>
          <p:cNvSpPr/>
          <p:nvPr/>
        </p:nvSpPr>
        <p:spPr bwMode="ltGray">
          <a:xfrm>
            <a:off x="3698489" y="4951745"/>
            <a:ext cx="2219092" cy="401443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200" b="1" dirty="0">
                <a:solidFill>
                  <a:schemeClr val="tx1"/>
                </a:solidFill>
              </a:rPr>
              <a:t>Remove language barriers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E7E584-DC9D-CA06-6806-14FD187B52BF}"/>
              </a:ext>
            </a:extLst>
          </p:cNvPr>
          <p:cNvSpPr/>
          <p:nvPr/>
        </p:nvSpPr>
        <p:spPr bwMode="ltGray">
          <a:xfrm>
            <a:off x="6274669" y="4951745"/>
            <a:ext cx="2219092" cy="401443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200" b="1" dirty="0">
                <a:solidFill>
                  <a:schemeClr val="tx1"/>
                </a:solidFill>
              </a:rPr>
              <a:t>Augment medical expertise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52F67A-4E91-97D9-FD0C-9C0B8ED5B5B9}"/>
              </a:ext>
            </a:extLst>
          </p:cNvPr>
          <p:cNvSpPr/>
          <p:nvPr/>
        </p:nvSpPr>
        <p:spPr bwMode="ltGray">
          <a:xfrm>
            <a:off x="8865469" y="1504813"/>
            <a:ext cx="2219092" cy="3226216"/>
          </a:xfrm>
          <a:prstGeom prst="rect">
            <a:avLst/>
          </a:prstGeom>
          <a:noFill/>
          <a:ln w="19050">
            <a:solidFill>
              <a:srgbClr val="01A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dirty="0">
                <a:solidFill>
                  <a:schemeClr val="tx1"/>
                </a:solidFill>
              </a:rPr>
              <a:t>Automated record keeping reduces administration overhead for medical experts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CCC228-0BE3-11C2-49F3-939FC79152E2}"/>
              </a:ext>
            </a:extLst>
          </p:cNvPr>
          <p:cNvSpPr/>
          <p:nvPr/>
        </p:nvSpPr>
        <p:spPr bwMode="ltGray">
          <a:xfrm>
            <a:off x="8865469" y="4951745"/>
            <a:ext cx="2219092" cy="401443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200" b="1" dirty="0">
                <a:solidFill>
                  <a:schemeClr val="tx1"/>
                </a:solidFill>
              </a:rPr>
              <a:t>Optimise time of medical experts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C14EE3-DC0A-E3A9-31F4-EACACFDD51AD}"/>
              </a:ext>
            </a:extLst>
          </p:cNvPr>
          <p:cNvSpPr txBox="1"/>
          <p:nvPr/>
        </p:nvSpPr>
        <p:spPr>
          <a:xfrm>
            <a:off x="2404748" y="5791272"/>
            <a:ext cx="7402823" cy="942822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400"/>
              </a:spcBef>
              <a:buNone/>
            </a:pPr>
            <a:r>
              <a:rPr lang="en-CZ" sz="1800" i="1" dirty="0"/>
              <a:t>Improve healthcare experience for both patients and healthcare providers</a:t>
            </a:r>
          </a:p>
          <a:p>
            <a:pPr marL="0" indent="0" algn="ctr">
              <a:lnSpc>
                <a:spcPct val="90000"/>
              </a:lnSpc>
              <a:spcBef>
                <a:spcPts val="400"/>
              </a:spcBef>
              <a:buNone/>
            </a:pPr>
            <a:r>
              <a:rPr lang="en-CZ" i="1" dirty="0"/>
              <a:t>All data &amp; processing performed on premise with full data sovereignty</a:t>
            </a:r>
          </a:p>
          <a:p>
            <a:pPr marL="0" indent="0" algn="ctr">
              <a:lnSpc>
                <a:spcPct val="90000"/>
              </a:lnSpc>
              <a:spcBef>
                <a:spcPts val="400"/>
              </a:spcBef>
              <a:buNone/>
            </a:pPr>
            <a:r>
              <a:rPr lang="en-CZ" i="1" dirty="0"/>
              <a:t>Built on cost-effective, turnkey appliance</a:t>
            </a:r>
            <a:r>
              <a:rPr lang="en-CZ" sz="1800" i="1" dirty="0"/>
              <a:t> with predictable outlay</a:t>
            </a:r>
            <a:endParaRPr lang="en-CZ" dirty="0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7D908C4E-6662-964B-49F8-E920E982EDB6}"/>
              </a:ext>
            </a:extLst>
          </p:cNvPr>
          <p:cNvSpPr/>
          <p:nvPr/>
        </p:nvSpPr>
        <p:spPr>
          <a:xfrm rot="16200000">
            <a:off x="5971522" y="292073"/>
            <a:ext cx="294640" cy="10358156"/>
          </a:xfrm>
          <a:prstGeom prst="leftBrac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A5831E-1C78-CB80-5D96-DA8E7C409B70}"/>
              </a:ext>
            </a:extLst>
          </p:cNvPr>
          <p:cNvSpPr txBox="1"/>
          <p:nvPr/>
        </p:nvSpPr>
        <p:spPr>
          <a:xfrm>
            <a:off x="1590532" y="1291480"/>
            <a:ext cx="1135247" cy="433965"/>
          </a:xfrm>
          <a:prstGeom prst="rect">
            <a:avLst/>
          </a:prstGeom>
          <a:solidFill>
            <a:schemeClr val="bg1"/>
          </a:solidFill>
          <a:ln w="19050">
            <a:solidFill>
              <a:srgbClr val="01A982"/>
            </a:solidFill>
            <a:miter lim="800000"/>
          </a:ln>
        </p:spPr>
        <p:txBody>
          <a:bodyPr wrap="non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CZ" i="1" dirty="0"/>
              <a:t>Transcribe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BDAA8-BCBE-D86B-71C8-1BDF84D5B6D3}"/>
              </a:ext>
            </a:extLst>
          </p:cNvPr>
          <p:cNvSpPr txBox="1"/>
          <p:nvPr/>
        </p:nvSpPr>
        <p:spPr>
          <a:xfrm>
            <a:off x="4294112" y="1291480"/>
            <a:ext cx="1027845" cy="433965"/>
          </a:xfrm>
          <a:prstGeom prst="rect">
            <a:avLst/>
          </a:prstGeom>
          <a:solidFill>
            <a:schemeClr val="bg1"/>
          </a:solidFill>
          <a:ln w="19050">
            <a:solidFill>
              <a:srgbClr val="01A982"/>
            </a:solidFill>
            <a:miter lim="800000"/>
          </a:ln>
        </p:spPr>
        <p:txBody>
          <a:bodyPr wrap="non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CZ" i="1" dirty="0"/>
              <a:t>Translate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A749D0-1270-5BA8-29E7-B79E05247D76}"/>
              </a:ext>
            </a:extLst>
          </p:cNvPr>
          <p:cNvSpPr txBox="1"/>
          <p:nvPr/>
        </p:nvSpPr>
        <p:spPr>
          <a:xfrm>
            <a:off x="6523364" y="1319180"/>
            <a:ext cx="1733167" cy="378565"/>
          </a:xfrm>
          <a:prstGeom prst="rect">
            <a:avLst/>
          </a:prstGeom>
          <a:solidFill>
            <a:schemeClr val="bg1"/>
          </a:solidFill>
          <a:ln w="19050">
            <a:solidFill>
              <a:srgbClr val="01A982"/>
            </a:solidFill>
            <a:miter lim="800000"/>
          </a:ln>
        </p:spPr>
        <p:txBody>
          <a:bodyPr wrap="non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CZ" sz="1400" i="1" dirty="0"/>
              <a:t>Treat (AI-Augmented)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2C54C5-2CF8-5677-DA4A-B301604D79D2}"/>
              </a:ext>
            </a:extLst>
          </p:cNvPr>
          <p:cNvSpPr txBox="1"/>
          <p:nvPr/>
        </p:nvSpPr>
        <p:spPr>
          <a:xfrm>
            <a:off x="9630209" y="1291480"/>
            <a:ext cx="689612" cy="433965"/>
          </a:xfrm>
          <a:prstGeom prst="rect">
            <a:avLst/>
          </a:prstGeom>
          <a:solidFill>
            <a:schemeClr val="bg1"/>
          </a:solidFill>
          <a:ln w="19050">
            <a:solidFill>
              <a:srgbClr val="01A982"/>
            </a:solidFill>
            <a:miter lim="800000"/>
          </a:ln>
        </p:spPr>
        <p:txBody>
          <a:bodyPr wrap="non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CZ" i="1" dirty="0"/>
              <a:t>Track</a:t>
            </a:r>
          </a:p>
        </p:txBody>
      </p:sp>
    </p:spTree>
    <p:extLst>
      <p:ext uri="{BB962C8B-B14F-4D97-AF65-F5344CB8AC3E}">
        <p14:creationId xmlns:p14="http://schemas.microsoft.com/office/powerpoint/2010/main" val="271110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9" grpId="0" animBg="1"/>
      <p:bldP spid="13" grpId="0" animBg="1"/>
      <p:bldP spid="18" grpId="0"/>
      <p:bldP spid="19" grpId="0" animBg="1"/>
      <p:bldP spid="17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1289-31ED-B28F-E4DA-54307429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</a:t>
            </a:r>
            <a:r>
              <a:rPr lang="en-CZ" dirty="0"/>
              <a:t>-ai demonstration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31025-FCCC-FA0D-0EE9-DDE0273D0D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 | AUTHORIZED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7A19F-EEDB-191D-48C4-BA9B1ABF05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defTabSz="1088421">
              <a:buFontTx/>
              <a:buBlip>
                <a:blip r:embed="rId3"/>
              </a:buBlip>
            </a:pPr>
            <a:fld id="{104FC826-72BB-4AF1-BA01-A94F7396A7DC}" type="slidenum">
              <a:rPr lang="en-US" smtClean="0"/>
              <a:pPr defTabSz="1088421">
                <a:buFontTx/>
                <a:buBlip>
                  <a:blip r:embed="rId3"/>
                </a:buBlip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50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" name="Rectangle 5180">
            <a:extLst>
              <a:ext uri="{FF2B5EF4-FFF2-40B4-BE49-F238E27FC236}">
                <a16:creationId xmlns:a16="http://schemas.microsoft.com/office/drawing/2014/main" id="{EF1A128B-F436-A37F-09A7-EBAE30457F00}"/>
              </a:ext>
            </a:extLst>
          </p:cNvPr>
          <p:cNvSpPr/>
          <p:nvPr/>
        </p:nvSpPr>
        <p:spPr bwMode="ltGray">
          <a:xfrm>
            <a:off x="742388" y="3077426"/>
            <a:ext cx="10060710" cy="3091185"/>
          </a:xfrm>
          <a:prstGeom prst="rect">
            <a:avLst/>
          </a:prstGeom>
          <a:solidFill>
            <a:srgbClr val="01A982">
              <a:alpha val="33881"/>
            </a:srgb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91440" bIns="91440" rtlCol="0" anchor="t"/>
          <a:lstStyle/>
          <a:p>
            <a:pPr algn="ctr"/>
            <a:endParaRPr lang="en-CZ" sz="1000" dirty="0">
              <a:solidFill>
                <a:schemeClr val="bg1"/>
              </a:solidFill>
            </a:endParaRPr>
          </a:p>
        </p:txBody>
      </p:sp>
      <p:sp>
        <p:nvSpPr>
          <p:cNvPr id="5180" name="Rectangle 5179">
            <a:extLst>
              <a:ext uri="{FF2B5EF4-FFF2-40B4-BE49-F238E27FC236}">
                <a16:creationId xmlns:a16="http://schemas.microsoft.com/office/drawing/2014/main" id="{823BFE51-CA1D-7ED8-EFD9-F81CBDF043C0}"/>
              </a:ext>
            </a:extLst>
          </p:cNvPr>
          <p:cNvSpPr/>
          <p:nvPr/>
        </p:nvSpPr>
        <p:spPr bwMode="ltGray">
          <a:xfrm>
            <a:off x="837516" y="3279770"/>
            <a:ext cx="9840678" cy="686722"/>
          </a:xfrm>
          <a:prstGeom prst="rect">
            <a:avLst/>
          </a:prstGeom>
          <a:solidFill>
            <a:schemeClr val="accent1">
              <a:alpha val="33881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91440" bIns="91440" rtlCol="0" anchor="t"/>
          <a:lstStyle/>
          <a:p>
            <a:pPr algn="ctr"/>
            <a:r>
              <a:rPr lang="en-CZ" sz="1000" dirty="0">
                <a:solidFill>
                  <a:schemeClr val="bg1"/>
                </a:solidFill>
              </a:rPr>
              <a:t>Web Frontend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FE4A81-4788-8133-DC3F-A657575B08E9}"/>
              </a:ext>
            </a:extLst>
          </p:cNvPr>
          <p:cNvSpPr/>
          <p:nvPr/>
        </p:nvSpPr>
        <p:spPr bwMode="ltGray">
          <a:xfrm>
            <a:off x="9252979" y="5253501"/>
            <a:ext cx="1242309" cy="460524"/>
          </a:xfrm>
          <a:prstGeom prst="rect">
            <a:avLst/>
          </a:prstGeom>
          <a:noFill/>
          <a:ln w="12700">
            <a:solidFill>
              <a:srgbClr val="01A98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 dirty="0">
                <a:solidFill>
                  <a:schemeClr val="tx1"/>
                </a:solidFill>
              </a:rPr>
              <a:t>    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482057-4D3A-A56D-4F86-8D660C7B4A27}"/>
              </a:ext>
            </a:extLst>
          </p:cNvPr>
          <p:cNvSpPr/>
          <p:nvPr/>
        </p:nvSpPr>
        <p:spPr bwMode="ltGray">
          <a:xfrm>
            <a:off x="9252979" y="4602366"/>
            <a:ext cx="1242309" cy="460524"/>
          </a:xfrm>
          <a:prstGeom prst="rect">
            <a:avLst/>
          </a:prstGeom>
          <a:noFill/>
          <a:ln w="12700">
            <a:solidFill>
              <a:srgbClr val="01A98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 dirty="0">
                <a:solidFill>
                  <a:schemeClr val="tx1"/>
                </a:solidFill>
              </a:rPr>
              <a:t>  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BAAF46-FA3B-E359-44C3-5B80EC99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triage-ai powered by hpe private cloud ai - ARCHITECTURE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378EE6C-0E48-39BF-9635-6886A231D6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45" y="1473313"/>
            <a:ext cx="255848" cy="83306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A8AC080-273C-F253-7696-10D9F16291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402" y="1481509"/>
            <a:ext cx="241287" cy="833065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5475523-171C-1E42-A39D-4302B9125A0C}"/>
              </a:ext>
            </a:extLst>
          </p:cNvPr>
          <p:cNvCxnSpPr>
            <a:cxnSpLocks/>
          </p:cNvCxnSpPr>
          <p:nvPr/>
        </p:nvCxnSpPr>
        <p:spPr>
          <a:xfrm>
            <a:off x="1546548" y="1948210"/>
            <a:ext cx="808005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933BD74-0175-A712-D608-6BC5E8E82C97}"/>
              </a:ext>
            </a:extLst>
          </p:cNvPr>
          <p:cNvSpPr/>
          <p:nvPr/>
        </p:nvSpPr>
        <p:spPr bwMode="ltGray">
          <a:xfrm>
            <a:off x="1052411" y="1077315"/>
            <a:ext cx="1774278" cy="25679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200" dirty="0">
                <a:solidFill>
                  <a:schemeClr val="tx1"/>
                </a:solidFill>
              </a:rPr>
              <a:t>1. Patient Translation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2AA1731-E647-F819-6E4D-945F1914FF88}"/>
              </a:ext>
            </a:extLst>
          </p:cNvPr>
          <p:cNvCxnSpPr>
            <a:cxnSpLocks/>
          </p:cNvCxnSpPr>
          <p:nvPr/>
        </p:nvCxnSpPr>
        <p:spPr>
          <a:xfrm>
            <a:off x="1986907" y="1948210"/>
            <a:ext cx="0" cy="1453407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6477C4A-EDBC-D1CD-412D-F5228E4D6668}"/>
              </a:ext>
            </a:extLst>
          </p:cNvPr>
          <p:cNvSpPr/>
          <p:nvPr/>
        </p:nvSpPr>
        <p:spPr bwMode="ltGray">
          <a:xfrm>
            <a:off x="1365752" y="3493528"/>
            <a:ext cx="1242309" cy="301658"/>
          </a:xfrm>
          <a:prstGeom prst="rect">
            <a:avLst/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 dirty="0">
                <a:solidFill>
                  <a:schemeClr val="bg1"/>
                </a:solidFill>
              </a:rPr>
              <a:t>TranslateAI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5DB189B-A831-0724-8883-CF4A310625D4}"/>
              </a:ext>
            </a:extLst>
          </p:cNvPr>
          <p:cNvSpPr/>
          <p:nvPr/>
        </p:nvSpPr>
        <p:spPr bwMode="ltGray">
          <a:xfrm>
            <a:off x="1365752" y="4242498"/>
            <a:ext cx="1242309" cy="301658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>
                <a:solidFill>
                  <a:schemeClr val="tx1"/>
                </a:solidFill>
              </a:rPr>
              <a:t>           </a:t>
            </a:r>
            <a:r>
              <a:rPr lang="en-GB" sz="1400" dirty="0">
                <a:solidFill>
                  <a:schemeClr val="tx1"/>
                </a:solidFill>
              </a:rPr>
              <a:t>Gemma</a:t>
            </a:r>
            <a:endParaRPr lang="en-CZ" sz="1400" dirty="0">
              <a:solidFill>
                <a:schemeClr val="tx1"/>
              </a:solidFill>
            </a:endParaRPr>
          </a:p>
        </p:txBody>
      </p:sp>
      <p:sp>
        <p:nvSpPr>
          <p:cNvPr id="3079" name="Rectangle 3078">
            <a:extLst>
              <a:ext uri="{FF2B5EF4-FFF2-40B4-BE49-F238E27FC236}">
                <a16:creationId xmlns:a16="http://schemas.microsoft.com/office/drawing/2014/main" id="{F12E3E76-8545-CEE0-1DBB-EB9296C0BD80}"/>
              </a:ext>
            </a:extLst>
          </p:cNvPr>
          <p:cNvSpPr/>
          <p:nvPr/>
        </p:nvSpPr>
        <p:spPr bwMode="ltGray">
          <a:xfrm>
            <a:off x="3778125" y="1077315"/>
            <a:ext cx="1774278" cy="25679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200" dirty="0">
                <a:solidFill>
                  <a:schemeClr val="tx1"/>
                </a:solidFill>
              </a:rPr>
              <a:t>2. Transcribe &amp; Diagnose</a:t>
            </a:r>
          </a:p>
        </p:txBody>
      </p:sp>
      <p:sp>
        <p:nvSpPr>
          <p:cNvPr id="3080" name="Rectangle 3079">
            <a:extLst>
              <a:ext uri="{FF2B5EF4-FFF2-40B4-BE49-F238E27FC236}">
                <a16:creationId xmlns:a16="http://schemas.microsoft.com/office/drawing/2014/main" id="{ECB3C197-C6A7-C9CA-3590-02290686DE6F}"/>
              </a:ext>
            </a:extLst>
          </p:cNvPr>
          <p:cNvSpPr/>
          <p:nvPr/>
        </p:nvSpPr>
        <p:spPr bwMode="ltGray">
          <a:xfrm>
            <a:off x="4053318" y="3493528"/>
            <a:ext cx="1242309" cy="301658"/>
          </a:xfrm>
          <a:prstGeom prst="rect">
            <a:avLst/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 dirty="0">
                <a:solidFill>
                  <a:schemeClr val="bg1"/>
                </a:solidFill>
              </a:rPr>
              <a:t>TriageAI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4A357921-C726-1379-F42F-FCCB5B5143A7}"/>
              </a:ext>
            </a:extLst>
          </p:cNvPr>
          <p:cNvSpPr/>
          <p:nvPr/>
        </p:nvSpPr>
        <p:spPr bwMode="ltGray">
          <a:xfrm>
            <a:off x="6740884" y="3493528"/>
            <a:ext cx="1242309" cy="301658"/>
          </a:xfrm>
          <a:prstGeom prst="rect">
            <a:avLst/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 dirty="0">
                <a:solidFill>
                  <a:schemeClr val="bg1"/>
                </a:solidFill>
              </a:rPr>
              <a:t>XrayAI</a:t>
            </a:r>
          </a:p>
        </p:txBody>
      </p:sp>
      <p:cxnSp>
        <p:nvCxnSpPr>
          <p:cNvPr id="3083" name="Straight Arrow Connector 3082">
            <a:extLst>
              <a:ext uri="{FF2B5EF4-FFF2-40B4-BE49-F238E27FC236}">
                <a16:creationId xmlns:a16="http://schemas.microsoft.com/office/drawing/2014/main" id="{D96F43DB-D47B-16C4-0E98-4B5AFC50E938}"/>
              </a:ext>
            </a:extLst>
          </p:cNvPr>
          <p:cNvCxnSpPr>
            <a:cxnSpLocks/>
          </p:cNvCxnSpPr>
          <p:nvPr/>
        </p:nvCxnSpPr>
        <p:spPr>
          <a:xfrm>
            <a:off x="4235440" y="1948210"/>
            <a:ext cx="808005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4" name="Straight Connector 3083">
            <a:extLst>
              <a:ext uri="{FF2B5EF4-FFF2-40B4-BE49-F238E27FC236}">
                <a16:creationId xmlns:a16="http://schemas.microsoft.com/office/drawing/2014/main" id="{F35DC80A-3E3E-0200-ED07-677697762F2A}"/>
              </a:ext>
            </a:extLst>
          </p:cNvPr>
          <p:cNvCxnSpPr>
            <a:cxnSpLocks/>
          </p:cNvCxnSpPr>
          <p:nvPr/>
        </p:nvCxnSpPr>
        <p:spPr>
          <a:xfrm>
            <a:off x="4665264" y="1978565"/>
            <a:ext cx="0" cy="1423052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5" name="Picture 3084">
            <a:extLst>
              <a:ext uri="{FF2B5EF4-FFF2-40B4-BE49-F238E27FC236}">
                <a16:creationId xmlns:a16="http://schemas.microsoft.com/office/drawing/2014/main" id="{5FBDB53C-5579-027E-99B8-73FF8BFF91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455" y="1445973"/>
            <a:ext cx="376383" cy="383565"/>
          </a:xfrm>
          <a:prstGeom prst="rect">
            <a:avLst/>
          </a:prstGeom>
        </p:spPr>
      </p:pic>
      <p:pic>
        <p:nvPicPr>
          <p:cNvPr id="3087" name="Picture 3086">
            <a:extLst>
              <a:ext uri="{FF2B5EF4-FFF2-40B4-BE49-F238E27FC236}">
                <a16:creationId xmlns:a16="http://schemas.microsoft.com/office/drawing/2014/main" id="{E3D566B6-6572-02D1-B3AA-4273F1C51E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031" y="1481509"/>
            <a:ext cx="241287" cy="833065"/>
          </a:xfrm>
          <a:prstGeom prst="rect">
            <a:avLst/>
          </a:prstGeom>
        </p:spPr>
      </p:pic>
      <p:pic>
        <p:nvPicPr>
          <p:cNvPr id="3089" name="Picture 3088">
            <a:extLst>
              <a:ext uri="{FF2B5EF4-FFF2-40B4-BE49-F238E27FC236}">
                <a16:creationId xmlns:a16="http://schemas.microsoft.com/office/drawing/2014/main" id="{AA34AC75-0F1F-9C09-C4D0-8F47EE08BE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561" y="1637755"/>
            <a:ext cx="437024" cy="609855"/>
          </a:xfrm>
          <a:prstGeom prst="rect">
            <a:avLst/>
          </a:prstGeom>
        </p:spPr>
      </p:pic>
      <p:pic>
        <p:nvPicPr>
          <p:cNvPr id="3090" name="Picture 3089">
            <a:extLst>
              <a:ext uri="{FF2B5EF4-FFF2-40B4-BE49-F238E27FC236}">
                <a16:creationId xmlns:a16="http://schemas.microsoft.com/office/drawing/2014/main" id="{4DDABD15-E387-DFFB-8354-E7223941133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431" y="1642469"/>
            <a:ext cx="488798" cy="609855"/>
          </a:xfrm>
          <a:prstGeom prst="rect">
            <a:avLst/>
          </a:prstGeom>
        </p:spPr>
      </p:pic>
      <p:cxnSp>
        <p:nvCxnSpPr>
          <p:cNvPr id="3091" name="Straight Arrow Connector 3090">
            <a:extLst>
              <a:ext uri="{FF2B5EF4-FFF2-40B4-BE49-F238E27FC236}">
                <a16:creationId xmlns:a16="http://schemas.microsoft.com/office/drawing/2014/main" id="{A6FD5263-37EF-A60B-32A2-5AC2F81EB892}"/>
              </a:ext>
            </a:extLst>
          </p:cNvPr>
          <p:cNvCxnSpPr>
            <a:cxnSpLocks/>
          </p:cNvCxnSpPr>
          <p:nvPr/>
        </p:nvCxnSpPr>
        <p:spPr>
          <a:xfrm>
            <a:off x="6933358" y="1948210"/>
            <a:ext cx="808005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2" name="Straight Connector 3091">
            <a:extLst>
              <a:ext uri="{FF2B5EF4-FFF2-40B4-BE49-F238E27FC236}">
                <a16:creationId xmlns:a16="http://schemas.microsoft.com/office/drawing/2014/main" id="{27E0D7C2-74C5-42B1-780B-59F540EF592D}"/>
              </a:ext>
            </a:extLst>
          </p:cNvPr>
          <p:cNvCxnSpPr>
            <a:cxnSpLocks/>
          </p:cNvCxnSpPr>
          <p:nvPr/>
        </p:nvCxnSpPr>
        <p:spPr>
          <a:xfrm>
            <a:off x="7363182" y="1978565"/>
            <a:ext cx="0" cy="1423052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93" name="Picture 3092">
            <a:extLst>
              <a:ext uri="{FF2B5EF4-FFF2-40B4-BE49-F238E27FC236}">
                <a16:creationId xmlns:a16="http://schemas.microsoft.com/office/drawing/2014/main" id="{A637FA12-5181-4424-85BB-240ABEF179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798" y="1637755"/>
            <a:ext cx="437024" cy="609855"/>
          </a:xfrm>
          <a:prstGeom prst="rect">
            <a:avLst/>
          </a:prstGeom>
        </p:spPr>
      </p:pic>
      <p:sp>
        <p:nvSpPr>
          <p:cNvPr id="3094" name="Rectangle 3093">
            <a:extLst>
              <a:ext uri="{FF2B5EF4-FFF2-40B4-BE49-F238E27FC236}">
                <a16:creationId xmlns:a16="http://schemas.microsoft.com/office/drawing/2014/main" id="{8ED17D55-4755-8E79-0679-82D0DEC75D2F}"/>
              </a:ext>
            </a:extLst>
          </p:cNvPr>
          <p:cNvSpPr/>
          <p:nvPr/>
        </p:nvSpPr>
        <p:spPr bwMode="ltGray">
          <a:xfrm>
            <a:off x="6474899" y="1077315"/>
            <a:ext cx="1774278" cy="25679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200" dirty="0">
                <a:solidFill>
                  <a:schemeClr val="tx1"/>
                </a:solidFill>
              </a:rPr>
              <a:t>3. XRay &amp; Diagnose</a:t>
            </a:r>
          </a:p>
        </p:txBody>
      </p:sp>
      <p:sp>
        <p:nvSpPr>
          <p:cNvPr id="3095" name="Rectangle 3094">
            <a:extLst>
              <a:ext uri="{FF2B5EF4-FFF2-40B4-BE49-F238E27FC236}">
                <a16:creationId xmlns:a16="http://schemas.microsoft.com/office/drawing/2014/main" id="{439D9E85-B7E6-D062-E371-93B8B4472049}"/>
              </a:ext>
            </a:extLst>
          </p:cNvPr>
          <p:cNvSpPr/>
          <p:nvPr/>
        </p:nvSpPr>
        <p:spPr bwMode="ltGray">
          <a:xfrm>
            <a:off x="3180207" y="4242498"/>
            <a:ext cx="1242309" cy="301658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 dirty="0">
                <a:solidFill>
                  <a:schemeClr val="tx1"/>
                </a:solidFill>
              </a:rPr>
              <a:t>           Whisper </a:t>
            </a:r>
          </a:p>
        </p:txBody>
      </p:sp>
      <p:sp>
        <p:nvSpPr>
          <p:cNvPr id="3099" name="Rectangle 3098">
            <a:extLst>
              <a:ext uri="{FF2B5EF4-FFF2-40B4-BE49-F238E27FC236}">
                <a16:creationId xmlns:a16="http://schemas.microsoft.com/office/drawing/2014/main" id="{E5BB5A43-E607-B58E-F414-D6DE2D2A95B7}"/>
              </a:ext>
            </a:extLst>
          </p:cNvPr>
          <p:cNvSpPr/>
          <p:nvPr/>
        </p:nvSpPr>
        <p:spPr bwMode="ltGray">
          <a:xfrm>
            <a:off x="5149562" y="4242498"/>
            <a:ext cx="2833632" cy="301658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 dirty="0">
                <a:solidFill>
                  <a:schemeClr val="tx1"/>
                </a:solidFill>
              </a:rPr>
              <a:t>      MedGemma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1179F7-4664-5771-8CA1-74A205B0A1BA}"/>
              </a:ext>
            </a:extLst>
          </p:cNvPr>
          <p:cNvSpPr/>
          <p:nvPr/>
        </p:nvSpPr>
        <p:spPr bwMode="ltGray">
          <a:xfrm>
            <a:off x="9248414" y="3493528"/>
            <a:ext cx="1242309" cy="301658"/>
          </a:xfrm>
          <a:prstGeom prst="rect">
            <a:avLst/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 dirty="0">
                <a:solidFill>
                  <a:schemeClr val="bg1"/>
                </a:solidFill>
              </a:rPr>
              <a:t>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143988-4E53-3B61-C45C-C36D83A157E3}"/>
              </a:ext>
            </a:extLst>
          </p:cNvPr>
          <p:cNvSpPr/>
          <p:nvPr/>
        </p:nvSpPr>
        <p:spPr bwMode="ltGray">
          <a:xfrm>
            <a:off x="8982429" y="1077315"/>
            <a:ext cx="1774278" cy="25679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200" dirty="0">
                <a:solidFill>
                  <a:schemeClr val="tx1"/>
                </a:solidFill>
              </a:rPr>
              <a:t>4. Record &amp; Observe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778DC2-F0A3-643C-E3CE-D85C6AF657F5}"/>
              </a:ext>
            </a:extLst>
          </p:cNvPr>
          <p:cNvCxnSpPr>
            <a:cxnSpLocks/>
          </p:cNvCxnSpPr>
          <p:nvPr/>
        </p:nvCxnSpPr>
        <p:spPr>
          <a:xfrm>
            <a:off x="9439744" y="1948210"/>
            <a:ext cx="808005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40534E-7B94-A8F7-1EBA-26714E0B1D05}"/>
              </a:ext>
            </a:extLst>
          </p:cNvPr>
          <p:cNvCxnSpPr>
            <a:cxnSpLocks/>
          </p:cNvCxnSpPr>
          <p:nvPr/>
        </p:nvCxnSpPr>
        <p:spPr>
          <a:xfrm>
            <a:off x="9869568" y="1978565"/>
            <a:ext cx="0" cy="1423052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07FA8C-233B-DE4D-2C50-6252B7767C63}"/>
              </a:ext>
            </a:extLst>
          </p:cNvPr>
          <p:cNvCxnSpPr>
            <a:cxnSpLocks/>
          </p:cNvCxnSpPr>
          <p:nvPr/>
        </p:nvCxnSpPr>
        <p:spPr>
          <a:xfrm>
            <a:off x="1986907" y="3851748"/>
            <a:ext cx="0" cy="333134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13F40C-9511-DF24-5ECF-98F9AC9B40B5}"/>
              </a:ext>
            </a:extLst>
          </p:cNvPr>
          <p:cNvCxnSpPr>
            <a:cxnSpLocks/>
          </p:cNvCxnSpPr>
          <p:nvPr/>
        </p:nvCxnSpPr>
        <p:spPr>
          <a:xfrm>
            <a:off x="7353755" y="3851748"/>
            <a:ext cx="0" cy="333134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e 20">
            <a:extLst>
              <a:ext uri="{FF2B5EF4-FFF2-40B4-BE49-F238E27FC236}">
                <a16:creationId xmlns:a16="http://schemas.microsoft.com/office/drawing/2014/main" id="{ECE0BA84-1CCC-3275-0E62-249E57A675D8}"/>
              </a:ext>
            </a:extLst>
          </p:cNvPr>
          <p:cNvSpPr/>
          <p:nvPr/>
        </p:nvSpPr>
        <p:spPr>
          <a:xfrm rot="5400000">
            <a:off x="4538188" y="2948936"/>
            <a:ext cx="252015" cy="2130279"/>
          </a:xfrm>
          <a:prstGeom prst="leftBrac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Z"/>
          </a:p>
        </p:txBody>
      </p:sp>
      <p:pic>
        <p:nvPicPr>
          <p:cNvPr id="23" name="Grafika 24">
            <a:extLst>
              <a:ext uri="{FF2B5EF4-FFF2-40B4-BE49-F238E27FC236}">
                <a16:creationId xmlns:a16="http://schemas.microsoft.com/office/drawing/2014/main" id="{45EEED7A-7DB6-7EDA-FAAC-B458709E80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13097" y="5283938"/>
            <a:ext cx="288427" cy="360534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747C28B-B1F1-724D-1029-34952C02A66F}"/>
              </a:ext>
            </a:extLst>
          </p:cNvPr>
          <p:cNvCxnSpPr>
            <a:cxnSpLocks/>
          </p:cNvCxnSpPr>
          <p:nvPr/>
        </p:nvCxnSpPr>
        <p:spPr>
          <a:xfrm flipH="1">
            <a:off x="10565299" y="5476017"/>
            <a:ext cx="210784" cy="0"/>
          </a:xfrm>
          <a:prstGeom prst="line">
            <a:avLst/>
          </a:prstGeom>
          <a:ln w="19050">
            <a:solidFill>
              <a:srgbClr val="01A98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8EAF59-572A-0760-7D6D-A428AAD37EC6}"/>
              </a:ext>
            </a:extLst>
          </p:cNvPr>
          <p:cNvCxnSpPr>
            <a:cxnSpLocks/>
          </p:cNvCxnSpPr>
          <p:nvPr/>
        </p:nvCxnSpPr>
        <p:spPr>
          <a:xfrm>
            <a:off x="9869568" y="3880029"/>
            <a:ext cx="0" cy="692408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765BAAD-AD78-E157-643A-EBEA89DD486F}"/>
              </a:ext>
            </a:extLst>
          </p:cNvPr>
          <p:cNvCxnSpPr>
            <a:cxnSpLocks/>
          </p:cNvCxnSpPr>
          <p:nvPr/>
        </p:nvCxnSpPr>
        <p:spPr>
          <a:xfrm>
            <a:off x="5729335" y="4602366"/>
            <a:ext cx="0" cy="408878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4EC71B7-B733-7F2C-AE3E-3D51EC7B04B5}"/>
              </a:ext>
            </a:extLst>
          </p:cNvPr>
          <p:cNvCxnSpPr>
            <a:cxnSpLocks/>
          </p:cNvCxnSpPr>
          <p:nvPr/>
        </p:nvCxnSpPr>
        <p:spPr>
          <a:xfrm>
            <a:off x="7344314" y="4675186"/>
            <a:ext cx="0" cy="336058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4805A40-8B77-2AF7-F219-3B721DCF0120}"/>
              </a:ext>
            </a:extLst>
          </p:cNvPr>
          <p:cNvCxnSpPr>
            <a:cxnSpLocks/>
          </p:cNvCxnSpPr>
          <p:nvPr/>
        </p:nvCxnSpPr>
        <p:spPr>
          <a:xfrm>
            <a:off x="5729335" y="5020671"/>
            <a:ext cx="2960030" cy="0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87C399C-E372-ACD5-DD8B-6A357AC4FA80}"/>
              </a:ext>
            </a:extLst>
          </p:cNvPr>
          <p:cNvCxnSpPr>
            <a:cxnSpLocks/>
          </p:cNvCxnSpPr>
          <p:nvPr/>
        </p:nvCxnSpPr>
        <p:spPr>
          <a:xfrm>
            <a:off x="8682920" y="5056773"/>
            <a:ext cx="0" cy="419244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01371F-1766-E15B-8F73-BA9CF78671F0}"/>
              </a:ext>
            </a:extLst>
          </p:cNvPr>
          <p:cNvCxnSpPr>
            <a:cxnSpLocks/>
          </p:cNvCxnSpPr>
          <p:nvPr/>
        </p:nvCxnSpPr>
        <p:spPr>
          <a:xfrm flipH="1">
            <a:off x="8689365" y="5476017"/>
            <a:ext cx="395926" cy="0"/>
          </a:xfrm>
          <a:prstGeom prst="line">
            <a:avLst/>
          </a:prstGeom>
          <a:ln w="19050">
            <a:solidFill>
              <a:schemeClr val="accent5"/>
            </a:solidFill>
            <a:prstDash val="sys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5378385-7819-DE82-712B-CAAFA4B7C355}"/>
              </a:ext>
            </a:extLst>
          </p:cNvPr>
          <p:cNvSpPr txBox="1"/>
          <p:nvPr/>
        </p:nvSpPr>
        <p:spPr>
          <a:xfrm>
            <a:off x="6509737" y="4949427"/>
            <a:ext cx="1704602" cy="35086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GB" sz="1200" dirty="0"/>
              <a:t> diagnosis r</a:t>
            </a:r>
            <a:r>
              <a:rPr lang="en-CZ" sz="1200" dirty="0"/>
              <a:t>esults store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FC9EDE-B0F1-97E0-9605-86D2B7A8900B}"/>
              </a:ext>
            </a:extLst>
          </p:cNvPr>
          <p:cNvSpPr txBox="1"/>
          <p:nvPr/>
        </p:nvSpPr>
        <p:spPr>
          <a:xfrm>
            <a:off x="1396026" y="2420526"/>
            <a:ext cx="1192955" cy="323165"/>
          </a:xfrm>
          <a:prstGeom prst="rect">
            <a:avLst/>
          </a:prstGeom>
          <a:solidFill>
            <a:schemeClr val="bg1"/>
          </a:solidFill>
          <a:ln w="57150">
            <a:noFill/>
            <a:miter lim="800000"/>
          </a:ln>
        </p:spPr>
        <p:txBody>
          <a:bodyPr wrap="non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GB" sz="1000" i="1" dirty="0"/>
              <a:t>secure https request</a:t>
            </a:r>
            <a:endParaRPr lang="en-CZ" sz="1000" i="1" dirty="0" err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EA10F1-8632-305D-0EC3-C1974DE68FF3}"/>
              </a:ext>
            </a:extLst>
          </p:cNvPr>
          <p:cNvSpPr txBox="1"/>
          <p:nvPr/>
        </p:nvSpPr>
        <p:spPr>
          <a:xfrm>
            <a:off x="4069730" y="2420526"/>
            <a:ext cx="1192955" cy="323165"/>
          </a:xfrm>
          <a:prstGeom prst="rect">
            <a:avLst/>
          </a:prstGeom>
          <a:solidFill>
            <a:schemeClr val="bg1"/>
          </a:solidFill>
          <a:ln w="57150">
            <a:noFill/>
            <a:miter lim="800000"/>
          </a:ln>
        </p:spPr>
        <p:txBody>
          <a:bodyPr wrap="non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GB" sz="1000" i="1" dirty="0"/>
              <a:t>secure https request</a:t>
            </a:r>
            <a:endParaRPr lang="en-CZ" sz="1000" i="1" dirty="0" err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47104F-999F-218E-9FC9-1CFF90E5E247}"/>
              </a:ext>
            </a:extLst>
          </p:cNvPr>
          <p:cNvSpPr txBox="1"/>
          <p:nvPr/>
        </p:nvSpPr>
        <p:spPr>
          <a:xfrm>
            <a:off x="6772966" y="2420526"/>
            <a:ext cx="1192955" cy="323165"/>
          </a:xfrm>
          <a:prstGeom prst="rect">
            <a:avLst/>
          </a:prstGeom>
          <a:solidFill>
            <a:schemeClr val="bg1"/>
          </a:solidFill>
          <a:ln w="57150">
            <a:noFill/>
            <a:miter lim="800000"/>
          </a:ln>
        </p:spPr>
        <p:txBody>
          <a:bodyPr wrap="non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GB" sz="1000" i="1" dirty="0"/>
              <a:t>secure https request</a:t>
            </a:r>
            <a:endParaRPr lang="en-CZ" sz="1000" i="1" dirty="0" err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195F97-BCAA-EF2D-C544-0991F0A512D9}"/>
              </a:ext>
            </a:extLst>
          </p:cNvPr>
          <p:cNvSpPr txBox="1"/>
          <p:nvPr/>
        </p:nvSpPr>
        <p:spPr>
          <a:xfrm>
            <a:off x="9210628" y="2420526"/>
            <a:ext cx="1322798" cy="323165"/>
          </a:xfrm>
          <a:prstGeom prst="rect">
            <a:avLst/>
          </a:prstGeom>
          <a:solidFill>
            <a:schemeClr val="bg1"/>
          </a:solidFill>
          <a:ln w="57150">
            <a:noFill/>
            <a:miter lim="800000"/>
          </a:ln>
        </p:spPr>
        <p:txBody>
          <a:bodyPr wrap="non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GB" sz="1000" i="1" dirty="0"/>
              <a:t>hosted web application</a:t>
            </a:r>
            <a:endParaRPr lang="en-CZ" sz="1000" i="1" dirty="0" err="1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BDA8117-1A4D-3368-D661-7141C1D18DDA}"/>
              </a:ext>
            </a:extLst>
          </p:cNvPr>
          <p:cNvCxnSpPr>
            <a:cxnSpLocks/>
          </p:cNvCxnSpPr>
          <p:nvPr/>
        </p:nvCxnSpPr>
        <p:spPr>
          <a:xfrm>
            <a:off x="9869568" y="5090262"/>
            <a:ext cx="0" cy="128075"/>
          </a:xfrm>
          <a:prstGeom prst="line">
            <a:avLst/>
          </a:prstGeom>
          <a:ln w="19050">
            <a:solidFill>
              <a:srgbClr val="01A98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9C1EEE5-9A0F-BFE2-6269-494E8E8B7D69}"/>
              </a:ext>
            </a:extLst>
          </p:cNvPr>
          <p:cNvCxnSpPr>
            <a:cxnSpLocks/>
          </p:cNvCxnSpPr>
          <p:nvPr/>
        </p:nvCxnSpPr>
        <p:spPr>
          <a:xfrm>
            <a:off x="2008801" y="4014075"/>
            <a:ext cx="1316534" cy="0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488D258-160E-9700-D4A0-ECD453778666}"/>
              </a:ext>
            </a:extLst>
          </p:cNvPr>
          <p:cNvCxnSpPr>
            <a:cxnSpLocks/>
          </p:cNvCxnSpPr>
          <p:nvPr/>
        </p:nvCxnSpPr>
        <p:spPr>
          <a:xfrm>
            <a:off x="3325335" y="4025363"/>
            <a:ext cx="0" cy="128075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5" name="Rectangle 5124">
            <a:extLst>
              <a:ext uri="{FF2B5EF4-FFF2-40B4-BE49-F238E27FC236}">
                <a16:creationId xmlns:a16="http://schemas.microsoft.com/office/drawing/2014/main" id="{5A6DD2D8-139C-08C2-0C0E-14AB770025E5}"/>
              </a:ext>
            </a:extLst>
          </p:cNvPr>
          <p:cNvSpPr/>
          <p:nvPr/>
        </p:nvSpPr>
        <p:spPr bwMode="ltGray">
          <a:xfrm>
            <a:off x="1365620" y="4939433"/>
            <a:ext cx="1242309" cy="301658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 dirty="0">
                <a:solidFill>
                  <a:schemeClr val="tx1"/>
                </a:solidFill>
              </a:rPr>
              <a:t>           KServe</a:t>
            </a:r>
          </a:p>
        </p:txBody>
      </p:sp>
      <p:sp>
        <p:nvSpPr>
          <p:cNvPr id="5126" name="Rectangle 5125">
            <a:extLst>
              <a:ext uri="{FF2B5EF4-FFF2-40B4-BE49-F238E27FC236}">
                <a16:creationId xmlns:a16="http://schemas.microsoft.com/office/drawing/2014/main" id="{F15AA157-4290-447F-EEEB-6ACC580E003F}"/>
              </a:ext>
            </a:extLst>
          </p:cNvPr>
          <p:cNvSpPr/>
          <p:nvPr/>
        </p:nvSpPr>
        <p:spPr bwMode="ltGray">
          <a:xfrm>
            <a:off x="4080726" y="4927856"/>
            <a:ext cx="1242309" cy="301658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 dirty="0">
                <a:solidFill>
                  <a:schemeClr val="tx1"/>
                </a:solidFill>
              </a:rPr>
              <a:t>           MLIS</a:t>
            </a:r>
          </a:p>
        </p:txBody>
      </p:sp>
      <p:pic>
        <p:nvPicPr>
          <p:cNvPr id="5127" name="Picture 4">
            <a:extLst>
              <a:ext uri="{FF2B5EF4-FFF2-40B4-BE49-F238E27FC236}">
                <a16:creationId xmlns:a16="http://schemas.microsoft.com/office/drawing/2014/main" id="{C4D5BD01-40D7-8BE0-CCE7-710BD147C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048" y="4993698"/>
            <a:ext cx="395922" cy="165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16" descr="KServe · GitHub">
            <a:extLst>
              <a:ext uri="{FF2B5EF4-FFF2-40B4-BE49-F238E27FC236}">
                <a16:creationId xmlns:a16="http://schemas.microsoft.com/office/drawing/2014/main" id="{20A7C59E-FCC0-F45C-3059-FE3564E9E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230" y="4959529"/>
            <a:ext cx="264186" cy="26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33" name="Straight Connector 5132">
            <a:extLst>
              <a:ext uri="{FF2B5EF4-FFF2-40B4-BE49-F238E27FC236}">
                <a16:creationId xmlns:a16="http://schemas.microsoft.com/office/drawing/2014/main" id="{070DD3E5-8F78-FD9E-ABC3-84FAE0ED796F}"/>
              </a:ext>
            </a:extLst>
          </p:cNvPr>
          <p:cNvCxnSpPr>
            <a:cxnSpLocks/>
          </p:cNvCxnSpPr>
          <p:nvPr/>
        </p:nvCxnSpPr>
        <p:spPr>
          <a:xfrm>
            <a:off x="3812031" y="4617754"/>
            <a:ext cx="0" cy="147188"/>
          </a:xfrm>
          <a:prstGeom prst="line">
            <a:avLst/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0" name="Straight Connector 5139">
            <a:extLst>
              <a:ext uri="{FF2B5EF4-FFF2-40B4-BE49-F238E27FC236}">
                <a16:creationId xmlns:a16="http://schemas.microsoft.com/office/drawing/2014/main" id="{23AAA3E3-0233-4F0E-9D95-001B3AB819FA}"/>
              </a:ext>
            </a:extLst>
          </p:cNvPr>
          <p:cNvCxnSpPr>
            <a:cxnSpLocks/>
          </p:cNvCxnSpPr>
          <p:nvPr/>
        </p:nvCxnSpPr>
        <p:spPr>
          <a:xfrm>
            <a:off x="5552403" y="4617754"/>
            <a:ext cx="0" cy="147188"/>
          </a:xfrm>
          <a:prstGeom prst="line">
            <a:avLst/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1" name="Straight Connector 5140">
            <a:extLst>
              <a:ext uri="{FF2B5EF4-FFF2-40B4-BE49-F238E27FC236}">
                <a16:creationId xmlns:a16="http://schemas.microsoft.com/office/drawing/2014/main" id="{027C358D-26CC-8ED7-2B3F-C8F3DA65A749}"/>
              </a:ext>
            </a:extLst>
          </p:cNvPr>
          <p:cNvCxnSpPr>
            <a:cxnSpLocks/>
          </p:cNvCxnSpPr>
          <p:nvPr/>
        </p:nvCxnSpPr>
        <p:spPr>
          <a:xfrm>
            <a:off x="6997962" y="4617754"/>
            <a:ext cx="0" cy="147188"/>
          </a:xfrm>
          <a:prstGeom prst="line">
            <a:avLst/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2" name="Straight Connector 5141">
            <a:extLst>
              <a:ext uri="{FF2B5EF4-FFF2-40B4-BE49-F238E27FC236}">
                <a16:creationId xmlns:a16="http://schemas.microsoft.com/office/drawing/2014/main" id="{2F395286-E409-A6A4-7AAE-10010272318D}"/>
              </a:ext>
            </a:extLst>
          </p:cNvPr>
          <p:cNvCxnSpPr>
            <a:cxnSpLocks/>
          </p:cNvCxnSpPr>
          <p:nvPr/>
        </p:nvCxnSpPr>
        <p:spPr>
          <a:xfrm>
            <a:off x="3812031" y="4764942"/>
            <a:ext cx="3201317" cy="0"/>
          </a:xfrm>
          <a:prstGeom prst="line">
            <a:avLst/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4" name="Straight Connector 5143">
            <a:extLst>
              <a:ext uri="{FF2B5EF4-FFF2-40B4-BE49-F238E27FC236}">
                <a16:creationId xmlns:a16="http://schemas.microsoft.com/office/drawing/2014/main" id="{BCF5902E-9D89-F440-F091-68EAFF1F3A94}"/>
              </a:ext>
            </a:extLst>
          </p:cNvPr>
          <p:cNvCxnSpPr>
            <a:cxnSpLocks/>
          </p:cNvCxnSpPr>
          <p:nvPr/>
        </p:nvCxnSpPr>
        <p:spPr>
          <a:xfrm>
            <a:off x="4738856" y="4780668"/>
            <a:ext cx="0" cy="147188"/>
          </a:xfrm>
          <a:prstGeom prst="line">
            <a:avLst/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47" name="Picture 8" descr="huggingface/brand-assets at main">
            <a:extLst>
              <a:ext uri="{FF2B5EF4-FFF2-40B4-BE49-F238E27FC236}">
                <a16:creationId xmlns:a16="http://schemas.microsoft.com/office/drawing/2014/main" id="{7C04E7FA-E4C1-057B-52B6-991410D67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495" y="6185871"/>
            <a:ext cx="1488501" cy="39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8" name="Rectangle 5147">
            <a:extLst>
              <a:ext uri="{FF2B5EF4-FFF2-40B4-BE49-F238E27FC236}">
                <a16:creationId xmlns:a16="http://schemas.microsoft.com/office/drawing/2014/main" id="{A8DC4FD0-51A6-2E5E-120F-B32343512203}"/>
              </a:ext>
            </a:extLst>
          </p:cNvPr>
          <p:cNvSpPr/>
          <p:nvPr/>
        </p:nvSpPr>
        <p:spPr bwMode="ltGray">
          <a:xfrm>
            <a:off x="1365620" y="5549173"/>
            <a:ext cx="1242309" cy="301658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CZ" sz="1400" dirty="0">
                <a:solidFill>
                  <a:schemeClr val="tx1"/>
                </a:solidFill>
              </a:rPr>
              <a:t>           Jupyter</a:t>
            </a:r>
          </a:p>
        </p:txBody>
      </p:sp>
      <p:cxnSp>
        <p:nvCxnSpPr>
          <p:cNvPr id="5149" name="Straight Connector 5148">
            <a:extLst>
              <a:ext uri="{FF2B5EF4-FFF2-40B4-BE49-F238E27FC236}">
                <a16:creationId xmlns:a16="http://schemas.microsoft.com/office/drawing/2014/main" id="{7EA20655-9396-390E-0C83-1593E12A2121}"/>
              </a:ext>
            </a:extLst>
          </p:cNvPr>
          <p:cNvCxnSpPr>
            <a:cxnSpLocks/>
          </p:cNvCxnSpPr>
          <p:nvPr/>
        </p:nvCxnSpPr>
        <p:spPr>
          <a:xfrm>
            <a:off x="1998753" y="5274973"/>
            <a:ext cx="0" cy="241794"/>
          </a:xfrm>
          <a:prstGeom prst="line">
            <a:avLst/>
          </a:prstGeom>
          <a:ln w="1905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1" name="Straight Connector 5150">
            <a:extLst>
              <a:ext uri="{FF2B5EF4-FFF2-40B4-BE49-F238E27FC236}">
                <a16:creationId xmlns:a16="http://schemas.microsoft.com/office/drawing/2014/main" id="{817D73DC-040E-B1B5-E584-A1F793C183E0}"/>
              </a:ext>
            </a:extLst>
          </p:cNvPr>
          <p:cNvCxnSpPr>
            <a:cxnSpLocks/>
          </p:cNvCxnSpPr>
          <p:nvPr/>
        </p:nvCxnSpPr>
        <p:spPr>
          <a:xfrm>
            <a:off x="1998753" y="4617754"/>
            <a:ext cx="0" cy="241794"/>
          </a:xfrm>
          <a:prstGeom prst="line">
            <a:avLst/>
          </a:prstGeom>
          <a:ln w="1905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52" name="Picture 10">
            <a:extLst>
              <a:ext uri="{FF2B5EF4-FFF2-40B4-BE49-F238E27FC236}">
                <a16:creationId xmlns:a16="http://schemas.microsoft.com/office/drawing/2014/main" id="{6B677BFB-41C5-0058-691F-5C185A6B7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103" y="5569954"/>
            <a:ext cx="224314" cy="260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53" name="Straight Connector 5152">
            <a:extLst>
              <a:ext uri="{FF2B5EF4-FFF2-40B4-BE49-F238E27FC236}">
                <a16:creationId xmlns:a16="http://schemas.microsoft.com/office/drawing/2014/main" id="{C74012B0-AC85-F94C-8F97-5F8983F69E01}"/>
              </a:ext>
            </a:extLst>
          </p:cNvPr>
          <p:cNvCxnSpPr>
            <a:cxnSpLocks/>
          </p:cNvCxnSpPr>
          <p:nvPr/>
        </p:nvCxnSpPr>
        <p:spPr>
          <a:xfrm>
            <a:off x="4738856" y="5273674"/>
            <a:ext cx="0" cy="688056"/>
          </a:xfrm>
          <a:prstGeom prst="line">
            <a:avLst/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6" name="Straight Connector 5155">
            <a:extLst>
              <a:ext uri="{FF2B5EF4-FFF2-40B4-BE49-F238E27FC236}">
                <a16:creationId xmlns:a16="http://schemas.microsoft.com/office/drawing/2014/main" id="{2EC95F6A-9A3F-6A0D-BD1A-222405D16443}"/>
              </a:ext>
            </a:extLst>
          </p:cNvPr>
          <p:cNvCxnSpPr>
            <a:cxnSpLocks/>
          </p:cNvCxnSpPr>
          <p:nvPr/>
        </p:nvCxnSpPr>
        <p:spPr>
          <a:xfrm>
            <a:off x="3699813" y="5961730"/>
            <a:ext cx="1039043" cy="0"/>
          </a:xfrm>
          <a:prstGeom prst="line">
            <a:avLst/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9" name="Straight Connector 5158">
            <a:extLst>
              <a:ext uri="{FF2B5EF4-FFF2-40B4-BE49-F238E27FC236}">
                <a16:creationId xmlns:a16="http://schemas.microsoft.com/office/drawing/2014/main" id="{0C3A9044-134A-AA36-332E-E822FE0650C9}"/>
              </a:ext>
            </a:extLst>
          </p:cNvPr>
          <p:cNvCxnSpPr>
            <a:cxnSpLocks/>
          </p:cNvCxnSpPr>
          <p:nvPr/>
        </p:nvCxnSpPr>
        <p:spPr>
          <a:xfrm>
            <a:off x="3704752" y="5961730"/>
            <a:ext cx="0" cy="224141"/>
          </a:xfrm>
          <a:prstGeom prst="line">
            <a:avLst/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6" name="Straight Connector 5165">
            <a:extLst>
              <a:ext uri="{FF2B5EF4-FFF2-40B4-BE49-F238E27FC236}">
                <a16:creationId xmlns:a16="http://schemas.microsoft.com/office/drawing/2014/main" id="{32923843-F890-D25B-A0CE-04BFEEF48174}"/>
              </a:ext>
            </a:extLst>
          </p:cNvPr>
          <p:cNvCxnSpPr>
            <a:cxnSpLocks/>
          </p:cNvCxnSpPr>
          <p:nvPr/>
        </p:nvCxnSpPr>
        <p:spPr>
          <a:xfrm>
            <a:off x="2008801" y="5961730"/>
            <a:ext cx="1039043" cy="0"/>
          </a:xfrm>
          <a:prstGeom prst="line">
            <a:avLst/>
          </a:prstGeom>
          <a:ln w="1905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7" name="Straight Connector 5166">
            <a:extLst>
              <a:ext uri="{FF2B5EF4-FFF2-40B4-BE49-F238E27FC236}">
                <a16:creationId xmlns:a16="http://schemas.microsoft.com/office/drawing/2014/main" id="{6A338107-E570-8248-B181-DDBEA767B328}"/>
              </a:ext>
            </a:extLst>
          </p:cNvPr>
          <p:cNvCxnSpPr>
            <a:cxnSpLocks/>
          </p:cNvCxnSpPr>
          <p:nvPr/>
        </p:nvCxnSpPr>
        <p:spPr>
          <a:xfrm>
            <a:off x="3042973" y="5961730"/>
            <a:ext cx="0" cy="224141"/>
          </a:xfrm>
          <a:prstGeom prst="line">
            <a:avLst/>
          </a:prstGeom>
          <a:ln w="1905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8" name="Straight Connector 5167">
            <a:extLst>
              <a:ext uri="{FF2B5EF4-FFF2-40B4-BE49-F238E27FC236}">
                <a16:creationId xmlns:a16="http://schemas.microsoft.com/office/drawing/2014/main" id="{FD7837BD-7C8A-4690-3274-FB4DE38043AA}"/>
              </a:ext>
            </a:extLst>
          </p:cNvPr>
          <p:cNvCxnSpPr>
            <a:cxnSpLocks/>
          </p:cNvCxnSpPr>
          <p:nvPr/>
        </p:nvCxnSpPr>
        <p:spPr>
          <a:xfrm>
            <a:off x="2015349" y="5888136"/>
            <a:ext cx="0" cy="73594"/>
          </a:xfrm>
          <a:prstGeom prst="line">
            <a:avLst/>
          </a:prstGeom>
          <a:ln w="1905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77" name="Picture 5176">
            <a:extLst>
              <a:ext uri="{FF2B5EF4-FFF2-40B4-BE49-F238E27FC236}">
                <a16:creationId xmlns:a16="http://schemas.microsoft.com/office/drawing/2014/main" id="{30DF1F77-CD05-EFC0-1AB8-2D5A7535085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910" y="1687428"/>
            <a:ext cx="795594" cy="609856"/>
          </a:xfrm>
          <a:prstGeom prst="rect">
            <a:avLst/>
          </a:prstGeom>
        </p:spPr>
      </p:pic>
      <p:pic>
        <p:nvPicPr>
          <p:cNvPr id="5178" name="Picture 5177">
            <a:extLst>
              <a:ext uri="{FF2B5EF4-FFF2-40B4-BE49-F238E27FC236}">
                <a16:creationId xmlns:a16="http://schemas.microsoft.com/office/drawing/2014/main" id="{A03FFD4C-D8CD-1243-AAD3-1280FC9CC9E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266" y="1742001"/>
            <a:ext cx="404900" cy="401362"/>
          </a:xfrm>
          <a:prstGeom prst="rect">
            <a:avLst/>
          </a:prstGeom>
        </p:spPr>
      </p:pic>
      <p:sp>
        <p:nvSpPr>
          <p:cNvPr id="5182" name="TextBox 5181">
            <a:extLst>
              <a:ext uri="{FF2B5EF4-FFF2-40B4-BE49-F238E27FC236}">
                <a16:creationId xmlns:a16="http://schemas.microsoft.com/office/drawing/2014/main" id="{A7DB11BA-25BB-D666-9260-0322ADF95D22}"/>
              </a:ext>
            </a:extLst>
          </p:cNvPr>
          <p:cNvSpPr txBox="1"/>
          <p:nvPr/>
        </p:nvSpPr>
        <p:spPr>
          <a:xfrm>
            <a:off x="5815715" y="5556634"/>
            <a:ext cx="2151551" cy="43396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 lIns="91440" tIns="91440" r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CZ" b="1" dirty="0">
                <a:solidFill>
                  <a:schemeClr val="bg1"/>
                </a:solidFill>
              </a:rPr>
              <a:t>HPE Private Cloud AI</a:t>
            </a:r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D14C1B7-790A-6F41-4F57-337C26754EC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695" y="4714780"/>
            <a:ext cx="1046744" cy="2714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718C32-17B1-1567-010B-69CBB4D663A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6216" y="5319974"/>
            <a:ext cx="1080525" cy="3393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BA7B65-52ED-BD3E-6908-D0CEDAA3C2C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76724" y="4256478"/>
            <a:ext cx="324812" cy="3248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FF489D-271E-5B18-1962-DA4E51E3CB1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10522" y="4209993"/>
            <a:ext cx="357293" cy="35729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10B13C-C73F-D187-995C-2F697D5BAC0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57540" y="4273337"/>
            <a:ext cx="244036" cy="2440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02AB50B-47A3-F29A-E0EE-13B406F8139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77514" y="5393421"/>
            <a:ext cx="1042429" cy="19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7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5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6" dur="500"/>
                                        <p:tgtEl>
                                          <p:spTgt spid="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" grpId="0" animBg="1"/>
      <p:bldP spid="5180" grpId="0" animBg="1"/>
      <p:bldP spid="16" grpId="0" animBg="1"/>
      <p:bldP spid="15" grpId="0" animBg="1"/>
      <p:bldP spid="53" grpId="0"/>
      <p:bldP spid="56" grpId="0" animBg="1"/>
      <p:bldP spid="59" grpId="0" animBg="1"/>
      <p:bldP spid="3079" grpId="0"/>
      <p:bldP spid="3080" grpId="0" animBg="1"/>
      <p:bldP spid="3081" grpId="0" animBg="1"/>
      <p:bldP spid="3094" grpId="0"/>
      <p:bldP spid="3095" grpId="0" animBg="1"/>
      <p:bldP spid="3099" grpId="0" animBg="1"/>
      <p:bldP spid="6" grpId="0" animBg="1"/>
      <p:bldP spid="7" grpId="0"/>
      <p:bldP spid="21" grpId="0" animBg="1"/>
      <p:bldP spid="39" grpId="0"/>
      <p:bldP spid="40" grpId="0" animBg="1"/>
      <p:bldP spid="41" grpId="0" animBg="1"/>
      <p:bldP spid="42" grpId="0" animBg="1"/>
      <p:bldP spid="43" grpId="0" animBg="1"/>
      <p:bldP spid="5125" grpId="0" animBg="1"/>
      <p:bldP spid="5126" grpId="0" animBg="1"/>
      <p:bldP spid="5148" grpId="0" animBg="1"/>
      <p:bldP spid="518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HPE_Standard_Metric_16x9_080117">
  <a:themeElements>
    <a:clrScheme name="HPE Spring 2019">
      <a:dk1>
        <a:sysClr val="windowText" lastClr="000000"/>
      </a:dk1>
      <a:lt1>
        <a:sysClr val="window" lastClr="FFFFFF"/>
      </a:lt1>
      <a:dk2>
        <a:srgbClr val="C6C6C2"/>
      </a:dk2>
      <a:lt2>
        <a:srgbClr val="787871"/>
      </a:lt2>
      <a:accent1>
        <a:srgbClr val="0D5265"/>
      </a:accent1>
      <a:accent2>
        <a:srgbClr val="7FF9E2"/>
      </a:accent2>
      <a:accent3>
        <a:srgbClr val="7630EA"/>
      </a:accent3>
      <a:accent4>
        <a:srgbClr val="C140FF"/>
      </a:accent4>
      <a:accent5>
        <a:srgbClr val="FF8300"/>
      </a:accent5>
      <a:accent6>
        <a:srgbClr val="FEC901"/>
      </a:accent6>
      <a:hlink>
        <a:srgbClr val="01A982"/>
      </a:hlink>
      <a:folHlink>
        <a:srgbClr val="01A982"/>
      </a:folHlink>
    </a:clrScheme>
    <a:fontScheme name="HPE Standard">
      <a:majorFont>
        <a:latin typeface="MetricHPE"/>
        <a:ea typeface=""/>
        <a:cs typeface=""/>
      </a:majorFont>
      <a:minorFont>
        <a:latin typeface="MetricH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noFill/>
        <a:ln w="57150">
          <a:solidFill>
            <a:schemeClr val="accent1"/>
          </a:solidFill>
        </a:ln>
      </a:spPr>
      <a:bodyPr tIns="91440" bIns="9144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57150">
          <a:noFill/>
          <a:miter lim="800000"/>
        </a:ln>
      </a:spPr>
      <a:bodyPr wrap="square" lIns="91440" tIns="91440" rIns="91440" bIns="91440" rtlCol="0">
        <a:spAutoFit/>
      </a:bodyPr>
      <a:lstStyle>
        <a:defPPr marL="285750" indent="-285750" algn="l">
          <a:lnSpc>
            <a:spcPct val="90000"/>
          </a:lnSpc>
          <a:spcBef>
            <a:spcPts val="400"/>
          </a:spcBef>
          <a:buFont typeface="MetricHPE" panose="020B0503030202060203" pitchFamily="34" charset="0"/>
          <a:buChar char="•"/>
          <a:defRPr dirty="0" err="1" smtClean="0"/>
        </a:defPPr>
      </a:lstStyle>
    </a:txDef>
  </a:objectDefaults>
  <a:extraClrSchemeLst/>
  <a:custClrLst>
    <a:custClr name="HPE Green">
      <a:srgbClr val="01A982"/>
    </a:custClr>
    <a:custClr name="Medium Blue">
      <a:srgbClr val="32DAC8"/>
    </a:custClr>
    <a:custClr name="Light Gray">
      <a:srgbClr val="C6C9CA"/>
    </a:custClr>
    <a:custClr name="Dark Gray">
      <a:srgbClr val="808285"/>
    </a:custClr>
  </a:custClrLst>
  <a:extLst>
    <a:ext uri="{05A4C25C-085E-4340-85A3-A5531E510DB2}">
      <thm15:themeFamily xmlns:thm15="http://schemas.microsoft.com/office/thememl/2012/main" name="Presentation1" id="{E01CEC0A-754E-4C29-9093-6C5C4E8C7284}" vid="{C4F1D16E-1AE6-4310-A166-1D00B7EABDC5}"/>
    </a:ext>
  </a:extLst>
</a:theme>
</file>

<file path=ppt/theme/theme2.xml><?xml version="1.0" encoding="utf-8"?>
<a:theme xmlns:a="http://schemas.openxmlformats.org/drawingml/2006/main" name="Office Theme">
  <a:themeElements>
    <a:clrScheme name="HPE Spring 2019">
      <a:dk1>
        <a:sysClr val="windowText" lastClr="000000"/>
      </a:dk1>
      <a:lt1>
        <a:sysClr val="window" lastClr="FFFFFF"/>
      </a:lt1>
      <a:dk2>
        <a:srgbClr val="C6C6C2"/>
      </a:dk2>
      <a:lt2>
        <a:srgbClr val="787871"/>
      </a:lt2>
      <a:accent1>
        <a:srgbClr val="0D5265"/>
      </a:accent1>
      <a:accent2>
        <a:srgbClr val="7FF9E2"/>
      </a:accent2>
      <a:accent3>
        <a:srgbClr val="7630EA"/>
      </a:accent3>
      <a:accent4>
        <a:srgbClr val="C140FF"/>
      </a:accent4>
      <a:accent5>
        <a:srgbClr val="FF8300"/>
      </a:accent5>
      <a:accent6>
        <a:srgbClr val="FEC901"/>
      </a:accent6>
      <a:hlink>
        <a:srgbClr val="01A982"/>
      </a:hlink>
      <a:folHlink>
        <a:srgbClr val="01A982"/>
      </a:folHlink>
    </a:clrScheme>
    <a:fontScheme name="HPE Standard">
      <a:majorFont>
        <a:latin typeface="MetricHPE"/>
        <a:ea typeface=""/>
        <a:cs typeface=""/>
      </a:majorFont>
      <a:minorFont>
        <a:latin typeface="MetricH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9050">
          <a:solidFill>
            <a:schemeClr val="accent1"/>
          </a:solidFill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/>
        </a:defPPr>
      </a:lstStyle>
    </a:txDef>
  </a:objectDefaults>
  <a:extraClrSchemeLst/>
  <a:custClrLst>
    <a:custClr name="HPE Green">
      <a:srgbClr val="01A982"/>
    </a:custClr>
    <a:custClr name="Medium Blue">
      <a:srgbClr val="32DAC8"/>
    </a:custClr>
    <a:custClr name="Light Gray">
      <a:srgbClr val="C6C9CA"/>
    </a:custClr>
    <a:custClr name="Dark Gray">
      <a:srgbClr val="808285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HPE Spring 2019">
      <a:dk1>
        <a:sysClr val="windowText" lastClr="000000"/>
      </a:dk1>
      <a:lt1>
        <a:sysClr val="window" lastClr="FFFFFF"/>
      </a:lt1>
      <a:dk2>
        <a:srgbClr val="C6C6C2"/>
      </a:dk2>
      <a:lt2>
        <a:srgbClr val="787871"/>
      </a:lt2>
      <a:accent1>
        <a:srgbClr val="0D5265"/>
      </a:accent1>
      <a:accent2>
        <a:srgbClr val="7FF9E2"/>
      </a:accent2>
      <a:accent3>
        <a:srgbClr val="7630EA"/>
      </a:accent3>
      <a:accent4>
        <a:srgbClr val="C140FF"/>
      </a:accent4>
      <a:accent5>
        <a:srgbClr val="FF8300"/>
      </a:accent5>
      <a:accent6>
        <a:srgbClr val="FEC901"/>
      </a:accent6>
      <a:hlink>
        <a:srgbClr val="01A982"/>
      </a:hlink>
      <a:folHlink>
        <a:srgbClr val="01A982"/>
      </a:folHlink>
    </a:clrScheme>
    <a:fontScheme name="HPE Standard">
      <a:majorFont>
        <a:latin typeface="MetricHPE"/>
        <a:ea typeface=""/>
        <a:cs typeface=""/>
      </a:majorFont>
      <a:minorFont>
        <a:latin typeface="MetricH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9050">
          <a:solidFill>
            <a:schemeClr val="accent1"/>
          </a:solidFill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/>
        </a:defPPr>
      </a:lstStyle>
    </a:txDef>
  </a:objectDefaults>
  <a:extraClrSchemeLst/>
  <a:custClrLst>
    <a:custClr name="HPE Green">
      <a:srgbClr val="01A982"/>
    </a:custClr>
    <a:custClr name="Medium Blue">
      <a:srgbClr val="32DAC8"/>
    </a:custClr>
    <a:custClr name="Light Gray">
      <a:srgbClr val="C6C9CA"/>
    </a:custClr>
    <a:custClr name="Dark Gray">
      <a:srgbClr val="808285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131398</TotalTime>
  <Words>242</Words>
  <Application>Microsoft Macintosh PowerPoint</Application>
  <PresentationFormat>Widescreen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MetricHPE Black</vt:lpstr>
      <vt:lpstr>MetricHPE</vt:lpstr>
      <vt:lpstr>HPE_Standard_Metric_16x9_080117</vt:lpstr>
      <vt:lpstr>HEALTHCARE ai</vt:lpstr>
      <vt:lpstr>HeALTHCARE PROVIDER CHALLENGES</vt:lpstr>
      <vt:lpstr>Healthcare-AI overview</vt:lpstr>
      <vt:lpstr>HEALTHCARE-ai demonstration</vt:lpstr>
      <vt:lpstr>triage-ai powered by hpe private cloud ai - ARCHITECTURE</vt:lpstr>
    </vt:vector>
  </TitlesOfParts>
  <Company>Hewlett 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guidelines for PowerPoint presentations</dc:title>
  <dc:creator>Slipek, Jaroslaw</dc:creator>
  <cp:lastModifiedBy>Kaya, Erdinc</cp:lastModifiedBy>
  <cp:revision>207</cp:revision>
  <dcterms:created xsi:type="dcterms:W3CDTF">2020-02-24T09:38:32Z</dcterms:created>
  <dcterms:modified xsi:type="dcterms:W3CDTF">2026-03-18T00:50:35Z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2289701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D6.0.7</vt:lpwstr>
  </property>
</Properties>
</file>